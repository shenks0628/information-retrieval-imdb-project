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6" r:id="rId28"/>
    <p:sldId id="285" r:id="rId29"/>
  </p:sldIdLst>
  <p:sldSz cx="18288000" cy="10287000"/>
  <p:notesSz cx="6858000" cy="9144000"/>
  <p:embeddedFontLst>
    <p:embeddedFont>
      <p:font typeface="Arimo" panose="020B0604020202020204" pitchFamily="34" charset="0"/>
      <p:regular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Glacial Indifference" pitchFamily="2" charset="0"/>
      <p:regular r:id="rId35"/>
    </p:embeddedFont>
    <p:embeddedFont>
      <p:font typeface="Glacial Indifference Italics" pitchFamily="2" charset="0"/>
      <p:regular r:id="rId36"/>
      <p:italic r:id="rId37"/>
    </p:embeddedFont>
    <p:embeddedFont>
      <p:font typeface="Special Elite" panose="02000506000000020004" pitchFamily="2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 autoAdjust="0"/>
    <p:restoredTop sz="94580" autoAdjust="0"/>
  </p:normalViewPr>
  <p:slideViewPr>
    <p:cSldViewPr>
      <p:cViewPr varScale="1">
        <p:scale>
          <a:sx n="57" d="100"/>
          <a:sy n="57" d="100"/>
        </p:scale>
        <p:origin x="168" y="8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db.com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hyperlink" Target="https://www.imdb.com" TargetMode="External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3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hyperlink" Target="https://huggingface.co/intfloat/multilingual-e5-large-instruct" TargetMode="External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5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6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8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9.png"/><Relationship Id="rId3" Type="http://schemas.openxmlformats.org/officeDocument/2006/relationships/image" Target="../media/image9.svg"/><Relationship Id="rId21" Type="http://schemas.openxmlformats.org/officeDocument/2006/relationships/image" Target="../media/image32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33.png"/><Relationship Id="rId3" Type="http://schemas.openxmlformats.org/officeDocument/2006/relationships/image" Target="../media/image9.svg"/><Relationship Id="rId21" Type="http://schemas.openxmlformats.org/officeDocument/2006/relationships/image" Target="../media/image36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3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3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38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39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40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4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42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43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4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45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4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4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45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48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svg"/><Relationship Id="rId18" Type="http://schemas.openxmlformats.org/officeDocument/2006/relationships/image" Target="../media/image49.png"/><Relationship Id="rId3" Type="http://schemas.openxmlformats.org/officeDocument/2006/relationships/image" Target="../media/image9.svg"/><Relationship Id="rId7" Type="http://schemas.openxmlformats.org/officeDocument/2006/relationships/image" Target="../media/image19.svg"/><Relationship Id="rId12" Type="http://schemas.openxmlformats.org/officeDocument/2006/relationships/image" Target="../media/image14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3.svg"/><Relationship Id="rId1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svg"/><Relationship Id="rId18" Type="http://schemas.openxmlformats.org/officeDocument/2006/relationships/image" Target="../media/image50.png"/><Relationship Id="rId3" Type="http://schemas.openxmlformats.org/officeDocument/2006/relationships/image" Target="../media/image9.svg"/><Relationship Id="rId7" Type="http://schemas.openxmlformats.org/officeDocument/2006/relationships/image" Target="../media/image19.svg"/><Relationship Id="rId12" Type="http://schemas.openxmlformats.org/officeDocument/2006/relationships/image" Target="../media/image14.png"/><Relationship Id="rId17" Type="http://schemas.openxmlformats.org/officeDocument/2006/relationships/image" Target="../media/image7.png"/><Relationship Id="rId2" Type="http://schemas.openxmlformats.org/officeDocument/2006/relationships/image" Target="../media/image8.png"/><Relationship Id="rId16" Type="http://schemas.openxmlformats.org/officeDocument/2006/relationships/hyperlink" Target="https://www.imdb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3.svg"/><Relationship Id="rId1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db.com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hyperlink" Target="https://github.com/shenks0628/Information-Retrieval-IMDb-project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05" y="-43043"/>
            <a:ext cx="18989176" cy="1395919"/>
            <a:chOff x="0" y="0"/>
            <a:chExt cx="5001265" cy="367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1264" cy="367650"/>
            </a:xfrm>
            <a:custGeom>
              <a:avLst/>
              <a:gdLst/>
              <a:ahLst/>
              <a:cxnLst/>
              <a:rect l="l" t="t" r="r" b="b"/>
              <a:pathLst>
                <a:path w="5001264" h="367650">
                  <a:moveTo>
                    <a:pt x="0" y="0"/>
                  </a:moveTo>
                  <a:lnTo>
                    <a:pt x="5001264" y="0"/>
                  </a:lnTo>
                  <a:lnTo>
                    <a:pt x="5001264" y="367650"/>
                  </a:lnTo>
                  <a:lnTo>
                    <a:pt x="0" y="367650"/>
                  </a:lnTo>
                  <a:close/>
                </a:path>
              </a:pathLst>
            </a:custGeom>
            <a:solidFill>
              <a:srgbClr val="2E3B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01265" cy="41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333826"/>
            <a:ext cx="18989176" cy="1395919"/>
            <a:chOff x="0" y="0"/>
            <a:chExt cx="5001265" cy="3676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01264" cy="367650"/>
            </a:xfrm>
            <a:custGeom>
              <a:avLst/>
              <a:gdLst/>
              <a:ahLst/>
              <a:cxnLst/>
              <a:rect l="l" t="t" r="r" b="b"/>
              <a:pathLst>
                <a:path w="5001264" h="367650">
                  <a:moveTo>
                    <a:pt x="0" y="0"/>
                  </a:moveTo>
                  <a:lnTo>
                    <a:pt x="5001264" y="0"/>
                  </a:lnTo>
                  <a:lnTo>
                    <a:pt x="5001264" y="367650"/>
                  </a:lnTo>
                  <a:lnTo>
                    <a:pt x="0" y="367650"/>
                  </a:lnTo>
                  <a:close/>
                </a:path>
              </a:pathLst>
            </a:custGeom>
            <a:solidFill>
              <a:srgbClr val="2E3B4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001265" cy="41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45" y="-52473"/>
            <a:ext cx="5114499" cy="1405349"/>
            <a:chOff x="0" y="0"/>
            <a:chExt cx="608735" cy="1672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8735" cy="167267"/>
            </a:xfrm>
            <a:custGeom>
              <a:avLst/>
              <a:gdLst/>
              <a:ahLst/>
              <a:cxnLst/>
              <a:rect l="l" t="t" r="r" b="b"/>
              <a:pathLst>
                <a:path w="608735" h="167267">
                  <a:moveTo>
                    <a:pt x="405535" y="0"/>
                  </a:moveTo>
                  <a:lnTo>
                    <a:pt x="0" y="0"/>
                  </a:lnTo>
                  <a:lnTo>
                    <a:pt x="203200" y="167267"/>
                  </a:lnTo>
                  <a:lnTo>
                    <a:pt x="608735" y="167267"/>
                  </a:lnTo>
                  <a:lnTo>
                    <a:pt x="405535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47625"/>
              <a:ext cx="405535" cy="21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06137" y="-52473"/>
            <a:ext cx="5114499" cy="1405349"/>
            <a:chOff x="0" y="0"/>
            <a:chExt cx="608735" cy="1672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8735" cy="167267"/>
            </a:xfrm>
            <a:custGeom>
              <a:avLst/>
              <a:gdLst/>
              <a:ahLst/>
              <a:cxnLst/>
              <a:rect l="l" t="t" r="r" b="b"/>
              <a:pathLst>
                <a:path w="608735" h="167267">
                  <a:moveTo>
                    <a:pt x="405535" y="0"/>
                  </a:moveTo>
                  <a:lnTo>
                    <a:pt x="0" y="0"/>
                  </a:lnTo>
                  <a:lnTo>
                    <a:pt x="203200" y="167267"/>
                  </a:lnTo>
                  <a:lnTo>
                    <a:pt x="608735" y="167267"/>
                  </a:lnTo>
                  <a:lnTo>
                    <a:pt x="405535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00" y="-47625"/>
              <a:ext cx="405535" cy="21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634219" y="-52473"/>
            <a:ext cx="5114499" cy="1405349"/>
            <a:chOff x="0" y="0"/>
            <a:chExt cx="608735" cy="1672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8735" cy="167267"/>
            </a:xfrm>
            <a:custGeom>
              <a:avLst/>
              <a:gdLst/>
              <a:ahLst/>
              <a:cxnLst/>
              <a:rect l="l" t="t" r="r" b="b"/>
              <a:pathLst>
                <a:path w="608735" h="167267">
                  <a:moveTo>
                    <a:pt x="405535" y="0"/>
                  </a:moveTo>
                  <a:lnTo>
                    <a:pt x="0" y="0"/>
                  </a:lnTo>
                  <a:lnTo>
                    <a:pt x="203200" y="167267"/>
                  </a:lnTo>
                  <a:lnTo>
                    <a:pt x="608735" y="167267"/>
                  </a:lnTo>
                  <a:lnTo>
                    <a:pt x="405535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600" y="-47625"/>
              <a:ext cx="405535" cy="21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462301" y="-52473"/>
            <a:ext cx="5114499" cy="1405349"/>
            <a:chOff x="0" y="0"/>
            <a:chExt cx="608735" cy="1672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8735" cy="167267"/>
            </a:xfrm>
            <a:custGeom>
              <a:avLst/>
              <a:gdLst/>
              <a:ahLst/>
              <a:cxnLst/>
              <a:rect l="l" t="t" r="r" b="b"/>
              <a:pathLst>
                <a:path w="608735" h="167267">
                  <a:moveTo>
                    <a:pt x="405535" y="0"/>
                  </a:moveTo>
                  <a:lnTo>
                    <a:pt x="0" y="0"/>
                  </a:lnTo>
                  <a:lnTo>
                    <a:pt x="203200" y="167267"/>
                  </a:lnTo>
                  <a:lnTo>
                    <a:pt x="608735" y="167267"/>
                  </a:lnTo>
                  <a:lnTo>
                    <a:pt x="405535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600" y="-47625"/>
              <a:ext cx="405535" cy="21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3447" y="1333826"/>
            <a:ext cx="4725613" cy="1395919"/>
            <a:chOff x="0" y="0"/>
            <a:chExt cx="750998" cy="2218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50998" cy="221841"/>
            </a:xfrm>
            <a:custGeom>
              <a:avLst/>
              <a:gdLst/>
              <a:ahLst/>
              <a:cxnLst/>
              <a:rect l="l" t="t" r="r" b="b"/>
              <a:pathLst>
                <a:path w="750998" h="221841">
                  <a:moveTo>
                    <a:pt x="203200" y="0"/>
                  </a:moveTo>
                  <a:lnTo>
                    <a:pt x="750998" y="0"/>
                  </a:lnTo>
                  <a:lnTo>
                    <a:pt x="547798" y="221841"/>
                  </a:lnTo>
                  <a:lnTo>
                    <a:pt x="0" y="2218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600" y="-47625"/>
              <a:ext cx="547798" cy="26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01528" y="1333826"/>
            <a:ext cx="4725613" cy="1395919"/>
            <a:chOff x="0" y="0"/>
            <a:chExt cx="750998" cy="2218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50998" cy="221841"/>
            </a:xfrm>
            <a:custGeom>
              <a:avLst/>
              <a:gdLst/>
              <a:ahLst/>
              <a:cxnLst/>
              <a:rect l="l" t="t" r="r" b="b"/>
              <a:pathLst>
                <a:path w="750998" h="221841">
                  <a:moveTo>
                    <a:pt x="203200" y="0"/>
                  </a:moveTo>
                  <a:lnTo>
                    <a:pt x="750998" y="0"/>
                  </a:lnTo>
                  <a:lnTo>
                    <a:pt x="547798" y="221841"/>
                  </a:lnTo>
                  <a:lnTo>
                    <a:pt x="0" y="2218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600" y="-47625"/>
              <a:ext cx="547798" cy="26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29610" y="1333826"/>
            <a:ext cx="4725613" cy="1395919"/>
            <a:chOff x="0" y="0"/>
            <a:chExt cx="750998" cy="2218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50998" cy="221841"/>
            </a:xfrm>
            <a:custGeom>
              <a:avLst/>
              <a:gdLst/>
              <a:ahLst/>
              <a:cxnLst/>
              <a:rect l="l" t="t" r="r" b="b"/>
              <a:pathLst>
                <a:path w="750998" h="221841">
                  <a:moveTo>
                    <a:pt x="203200" y="0"/>
                  </a:moveTo>
                  <a:lnTo>
                    <a:pt x="750998" y="0"/>
                  </a:lnTo>
                  <a:lnTo>
                    <a:pt x="547798" y="221841"/>
                  </a:lnTo>
                  <a:lnTo>
                    <a:pt x="0" y="2218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600" y="-47625"/>
              <a:ext cx="547798" cy="26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860123" y="1333826"/>
            <a:ext cx="4725613" cy="1395919"/>
            <a:chOff x="0" y="0"/>
            <a:chExt cx="750998" cy="22184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50998" cy="221841"/>
            </a:xfrm>
            <a:custGeom>
              <a:avLst/>
              <a:gdLst/>
              <a:ahLst/>
              <a:cxnLst/>
              <a:rect l="l" t="t" r="r" b="b"/>
              <a:pathLst>
                <a:path w="750998" h="221841">
                  <a:moveTo>
                    <a:pt x="203200" y="0"/>
                  </a:moveTo>
                  <a:lnTo>
                    <a:pt x="750998" y="0"/>
                  </a:lnTo>
                  <a:lnTo>
                    <a:pt x="547798" y="221841"/>
                  </a:lnTo>
                  <a:lnTo>
                    <a:pt x="0" y="2218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1600" y="-47625"/>
              <a:ext cx="547798" cy="26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2251226" y="5429250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721574" y="5429250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2258627" y="6702921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8728976" y="6702921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flipV="1">
            <a:off x="-292871" y="8435430"/>
            <a:ext cx="18873741" cy="1851570"/>
          </a:xfrm>
          <a:custGeom>
            <a:avLst/>
            <a:gdLst/>
            <a:ahLst/>
            <a:cxnLst/>
            <a:rect l="l" t="t" r="r" b="b"/>
            <a:pathLst>
              <a:path w="18873741" h="1851570">
                <a:moveTo>
                  <a:pt x="0" y="1851570"/>
                </a:moveTo>
                <a:lnTo>
                  <a:pt x="18873742" y="1851570"/>
                </a:lnTo>
                <a:lnTo>
                  <a:pt x="18873742" y="0"/>
                </a:lnTo>
                <a:lnTo>
                  <a:pt x="0" y="0"/>
                </a:lnTo>
                <a:lnTo>
                  <a:pt x="0" y="185157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rot="4490682">
            <a:off x="2484523" y="291767"/>
            <a:ext cx="969931" cy="3031035"/>
          </a:xfrm>
          <a:custGeom>
            <a:avLst/>
            <a:gdLst/>
            <a:ahLst/>
            <a:cxnLst/>
            <a:rect l="l" t="t" r="r" b="b"/>
            <a:pathLst>
              <a:path w="969931" h="3031035">
                <a:moveTo>
                  <a:pt x="0" y="0"/>
                </a:moveTo>
                <a:lnTo>
                  <a:pt x="969931" y="0"/>
                </a:lnTo>
                <a:lnTo>
                  <a:pt x="969931" y="3031035"/>
                </a:lnTo>
                <a:lnTo>
                  <a:pt x="0" y="3031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>
            <a:hlinkClick r:id="rId8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898428" y="3718848"/>
            <a:ext cx="14491145" cy="214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IMDb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75972" y="7327296"/>
            <a:ext cx="3187559" cy="2623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Group 5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李宇捷 (Ethan)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沈奎勳 (Joseph)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陳柏瑋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洪旻昌 (Bryan)</a:t>
            </a:r>
          </a:p>
        </p:txBody>
      </p:sp>
      <p:sp>
        <p:nvSpPr>
          <p:cNvPr id="41" name="TextBox 41"/>
          <p:cNvSpPr txBox="1"/>
          <p:nvPr/>
        </p:nvSpPr>
        <p:spPr>
          <a:xfrm rot="-912620">
            <a:off x="1012367" y="1331800"/>
            <a:ext cx="401349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929">
                <a:solidFill>
                  <a:srgbClr val="FF312D"/>
                </a:solidFill>
                <a:latin typeface="Special Elite"/>
                <a:ea typeface="Special Elite"/>
                <a:cs typeface="Special Elite"/>
                <a:sym typeface="Special Elite"/>
              </a:rPr>
              <a:t>IR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01528" y="7860696"/>
            <a:ext cx="1779806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01057108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01057115 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01057138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01057158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74628" y="5744498"/>
            <a:ext cx="1449114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Internet Movie Database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86490" y="1811651"/>
            <a:ext cx="13715019" cy="492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9"/>
              </a:lnSpc>
            </a:pPr>
            <a:r>
              <a:rPr lang="en-US" sz="3999" spc="3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Internet Movie Database (IMDb) is an online database of information related to films, television series, podcasts, home videos, video games, and streaming content online – including cast, production crew and personal biographies, plot summaries, trivia, ratings, and fan and critical reviews.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002683" y="6004556"/>
            <a:ext cx="6572558" cy="841375"/>
            <a:chOff x="0" y="0"/>
            <a:chExt cx="1731044" cy="2215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31044" cy="221597"/>
            </a:xfrm>
            <a:custGeom>
              <a:avLst/>
              <a:gdLst/>
              <a:ahLst/>
              <a:cxnLst/>
              <a:rect l="l" t="t" r="r" b="b"/>
              <a:pathLst>
                <a:path w="1731044" h="221597">
                  <a:moveTo>
                    <a:pt x="16491" y="0"/>
                  </a:moveTo>
                  <a:lnTo>
                    <a:pt x="1714553" y="0"/>
                  </a:lnTo>
                  <a:cubicBezTo>
                    <a:pt x="1718927" y="0"/>
                    <a:pt x="1723121" y="1737"/>
                    <a:pt x="1726214" y="4830"/>
                  </a:cubicBezTo>
                  <a:cubicBezTo>
                    <a:pt x="1729306" y="7923"/>
                    <a:pt x="1731044" y="12117"/>
                    <a:pt x="1731044" y="16491"/>
                  </a:cubicBezTo>
                  <a:lnTo>
                    <a:pt x="1731044" y="205106"/>
                  </a:lnTo>
                  <a:cubicBezTo>
                    <a:pt x="1731044" y="209480"/>
                    <a:pt x="1729306" y="213674"/>
                    <a:pt x="1726214" y="216767"/>
                  </a:cubicBezTo>
                  <a:cubicBezTo>
                    <a:pt x="1723121" y="219859"/>
                    <a:pt x="1718927" y="221597"/>
                    <a:pt x="1714553" y="221597"/>
                  </a:cubicBezTo>
                  <a:lnTo>
                    <a:pt x="16491" y="221597"/>
                  </a:lnTo>
                  <a:cubicBezTo>
                    <a:pt x="7383" y="221597"/>
                    <a:pt x="0" y="214213"/>
                    <a:pt x="0" y="205106"/>
                  </a:cubicBezTo>
                  <a:lnTo>
                    <a:pt x="0" y="16491"/>
                  </a:lnTo>
                  <a:cubicBezTo>
                    <a:pt x="0" y="12117"/>
                    <a:pt x="1737" y="7923"/>
                    <a:pt x="4830" y="4830"/>
                  </a:cubicBezTo>
                  <a:cubicBezTo>
                    <a:pt x="7923" y="1737"/>
                    <a:pt x="12117" y="0"/>
                    <a:pt x="164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312D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731044" cy="269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What is IMDb?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04778" y="7160256"/>
            <a:ext cx="644569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Wikipedia</a:t>
            </a:r>
          </a:p>
        </p:txBody>
      </p:sp>
      <p:sp>
        <p:nvSpPr>
          <p:cNvPr id="21" name="Freeform 21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7225888" y="9474762"/>
            <a:ext cx="106211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2</a:t>
            </a:r>
          </a:p>
        </p:txBody>
      </p:sp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Functionality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2279" y="1658097"/>
            <a:ext cx="14887293" cy="145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 Actor-Related Keywords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Display keywords based on reviews relevant to the actors.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2279" y="3564180"/>
            <a:ext cx="15520515" cy="145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 Sentiment Grouping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Analyze and group user reviews based on each content’s sentiments.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2279" y="5470262"/>
            <a:ext cx="14887293" cy="145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  Review Summary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Construct a summarization of reviews for each rating level.</a:t>
            </a:r>
          </a:p>
        </p:txBody>
      </p:sp>
      <p:sp>
        <p:nvSpPr>
          <p:cNvPr id="19" name="Freeform 19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225888" y="9474762"/>
            <a:ext cx="106211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24718" y="-55877"/>
            <a:ext cx="13783045" cy="1702910"/>
            <a:chOff x="0" y="0"/>
            <a:chExt cx="3630102" cy="4485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30102" cy="448503"/>
            </a:xfrm>
            <a:custGeom>
              <a:avLst/>
              <a:gdLst/>
              <a:ahLst/>
              <a:cxnLst/>
              <a:rect l="l" t="t" r="r" b="b"/>
              <a:pathLst>
                <a:path w="3630102" h="448503">
                  <a:moveTo>
                    <a:pt x="0" y="0"/>
                  </a:moveTo>
                  <a:lnTo>
                    <a:pt x="3630102" y="0"/>
                  </a:lnTo>
                  <a:lnTo>
                    <a:pt x="3630102" y="448503"/>
                  </a:lnTo>
                  <a:lnTo>
                    <a:pt x="0" y="448503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630102" cy="496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099431" y="2265361"/>
            <a:ext cx="12950669" cy="6111679"/>
          </a:xfrm>
          <a:custGeom>
            <a:avLst/>
            <a:gdLst/>
            <a:ahLst/>
            <a:cxnLst/>
            <a:rect l="l" t="t" r="r" b="b"/>
            <a:pathLst>
              <a:path w="12950669" h="6111679">
                <a:moveTo>
                  <a:pt x="0" y="0"/>
                </a:moveTo>
                <a:lnTo>
                  <a:pt x="12950670" y="0"/>
                </a:lnTo>
                <a:lnTo>
                  <a:pt x="12950670" y="6111679"/>
                </a:lnTo>
                <a:lnTo>
                  <a:pt x="0" y="61116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b="-1704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Movie List Retrieval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99431" y="1473200"/>
            <a:ext cx="13322393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Retrieve movies’ [ID] and [Title]</a:t>
            </a:r>
          </a:p>
        </p:txBody>
      </p:sp>
      <p:sp>
        <p:nvSpPr>
          <p:cNvPr id="18" name="Freeform 18">
            <a:hlinkClick r:id="rId17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7225888" y="9474762"/>
            <a:ext cx="106211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103572" y="2265361"/>
            <a:ext cx="14033777" cy="5548383"/>
          </a:xfrm>
          <a:custGeom>
            <a:avLst/>
            <a:gdLst/>
            <a:ahLst/>
            <a:cxnLst/>
            <a:rect l="l" t="t" r="r" b="b"/>
            <a:pathLst>
              <a:path w="14033777" h="5548383">
                <a:moveTo>
                  <a:pt x="0" y="0"/>
                </a:moveTo>
                <a:lnTo>
                  <a:pt x="14033777" y="0"/>
                </a:lnTo>
                <a:lnTo>
                  <a:pt x="14033777" y="5548382"/>
                </a:lnTo>
                <a:lnTo>
                  <a:pt x="0" y="554838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3829" b="-24087"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3884239" y="4637532"/>
            <a:ext cx="827771" cy="366617"/>
            <a:chOff x="0" y="0"/>
            <a:chExt cx="218014" cy="965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8014" cy="96558"/>
            </a:xfrm>
            <a:custGeom>
              <a:avLst/>
              <a:gdLst/>
              <a:ahLst/>
              <a:cxnLst/>
              <a:rect l="l" t="t" r="r" b="b"/>
              <a:pathLst>
                <a:path w="218014" h="96558">
                  <a:moveTo>
                    <a:pt x="48279" y="0"/>
                  </a:moveTo>
                  <a:lnTo>
                    <a:pt x="169735" y="0"/>
                  </a:lnTo>
                  <a:cubicBezTo>
                    <a:pt x="196399" y="0"/>
                    <a:pt x="218014" y="21615"/>
                    <a:pt x="218014" y="48279"/>
                  </a:cubicBezTo>
                  <a:lnTo>
                    <a:pt x="218014" y="48279"/>
                  </a:lnTo>
                  <a:cubicBezTo>
                    <a:pt x="218014" y="74942"/>
                    <a:pt x="196399" y="96558"/>
                    <a:pt x="169735" y="96558"/>
                  </a:cubicBezTo>
                  <a:lnTo>
                    <a:pt x="48279" y="96558"/>
                  </a:lnTo>
                  <a:cubicBezTo>
                    <a:pt x="21615" y="96558"/>
                    <a:pt x="0" y="74942"/>
                    <a:pt x="0" y="48279"/>
                  </a:cubicBezTo>
                  <a:lnTo>
                    <a:pt x="0" y="48279"/>
                  </a:lnTo>
                  <a:cubicBezTo>
                    <a:pt x="0" y="21615"/>
                    <a:pt x="21615" y="0"/>
                    <a:pt x="482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FF312D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18014" cy="144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Review Retrieval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5</a:t>
            </a:r>
          </a:p>
        </p:txBody>
      </p:sp>
      <p:sp>
        <p:nvSpPr>
          <p:cNvPr id="25" name="AutoShape 25"/>
          <p:cNvSpPr/>
          <p:nvPr/>
        </p:nvSpPr>
        <p:spPr>
          <a:xfrm flipH="1">
            <a:off x="4688769" y="4792272"/>
            <a:ext cx="2685149" cy="22875"/>
          </a:xfrm>
          <a:prstGeom prst="line">
            <a:avLst/>
          </a:prstGeom>
          <a:ln w="95250" cap="flat">
            <a:solidFill>
              <a:srgbClr val="FF312D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7532104" y="4486998"/>
            <a:ext cx="5128594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Rating range: [1, 10]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99431" y="1473200"/>
            <a:ext cx="13322393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Retrieve movies’ [Reviews]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0046" y="1793335"/>
            <a:ext cx="15428499" cy="1288293"/>
            <a:chOff x="0" y="0"/>
            <a:chExt cx="4063473" cy="3393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3473" cy="339303"/>
            </a:xfrm>
            <a:custGeom>
              <a:avLst/>
              <a:gdLst/>
              <a:ahLst/>
              <a:cxnLst/>
              <a:rect l="l" t="t" r="r" b="b"/>
              <a:pathLst>
                <a:path w="4063473" h="339303">
                  <a:moveTo>
                    <a:pt x="7025" y="0"/>
                  </a:moveTo>
                  <a:lnTo>
                    <a:pt x="4056448" y="0"/>
                  </a:lnTo>
                  <a:cubicBezTo>
                    <a:pt x="4060328" y="0"/>
                    <a:pt x="4063473" y="3145"/>
                    <a:pt x="4063473" y="7025"/>
                  </a:cubicBezTo>
                  <a:lnTo>
                    <a:pt x="4063473" y="332278"/>
                  </a:lnTo>
                  <a:cubicBezTo>
                    <a:pt x="4063473" y="334141"/>
                    <a:pt x="4062733" y="335928"/>
                    <a:pt x="4061415" y="337246"/>
                  </a:cubicBezTo>
                  <a:cubicBezTo>
                    <a:pt x="4060098" y="338563"/>
                    <a:pt x="4058311" y="339303"/>
                    <a:pt x="4056448" y="339303"/>
                  </a:cubicBezTo>
                  <a:lnTo>
                    <a:pt x="7025" y="339303"/>
                  </a:lnTo>
                  <a:cubicBezTo>
                    <a:pt x="5162" y="339303"/>
                    <a:pt x="3375" y="338563"/>
                    <a:pt x="2058" y="337246"/>
                  </a:cubicBezTo>
                  <a:cubicBezTo>
                    <a:pt x="740" y="335928"/>
                    <a:pt x="0" y="334141"/>
                    <a:pt x="0" y="332278"/>
                  </a:cubicBezTo>
                  <a:lnTo>
                    <a:pt x="0" y="7025"/>
                  </a:lnTo>
                  <a:cubicBezTo>
                    <a:pt x="0" y="3145"/>
                    <a:pt x="3145" y="0"/>
                    <a:pt x="7025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063473" cy="386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98428" y="2138962"/>
            <a:ext cx="620711" cy="62071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6F6"/>
            </a:solidFill>
            <a:ln w="47625" cap="sq">
              <a:solidFill>
                <a:srgbClr val="192637"/>
              </a:solidFill>
              <a:prstDash val="lgDash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Collected Data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77520" y="2067010"/>
            <a:ext cx="13322393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Total movie: 39 movies.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40046" y="3319753"/>
            <a:ext cx="15428499" cy="2783477"/>
            <a:chOff x="0" y="0"/>
            <a:chExt cx="4063473" cy="73309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063473" cy="733097"/>
            </a:xfrm>
            <a:custGeom>
              <a:avLst/>
              <a:gdLst/>
              <a:ahLst/>
              <a:cxnLst/>
              <a:rect l="l" t="t" r="r" b="b"/>
              <a:pathLst>
                <a:path w="4063473" h="733097">
                  <a:moveTo>
                    <a:pt x="7025" y="0"/>
                  </a:moveTo>
                  <a:lnTo>
                    <a:pt x="4056448" y="0"/>
                  </a:lnTo>
                  <a:cubicBezTo>
                    <a:pt x="4060328" y="0"/>
                    <a:pt x="4063473" y="3145"/>
                    <a:pt x="4063473" y="7025"/>
                  </a:cubicBezTo>
                  <a:lnTo>
                    <a:pt x="4063473" y="726072"/>
                  </a:lnTo>
                  <a:cubicBezTo>
                    <a:pt x="4063473" y="727935"/>
                    <a:pt x="4062733" y="729722"/>
                    <a:pt x="4061415" y="731039"/>
                  </a:cubicBezTo>
                  <a:cubicBezTo>
                    <a:pt x="4060098" y="732357"/>
                    <a:pt x="4058311" y="733097"/>
                    <a:pt x="4056448" y="733097"/>
                  </a:cubicBezTo>
                  <a:lnTo>
                    <a:pt x="7025" y="733097"/>
                  </a:lnTo>
                  <a:cubicBezTo>
                    <a:pt x="5162" y="733097"/>
                    <a:pt x="3375" y="732357"/>
                    <a:pt x="2058" y="731039"/>
                  </a:cubicBezTo>
                  <a:cubicBezTo>
                    <a:pt x="740" y="729722"/>
                    <a:pt x="0" y="727935"/>
                    <a:pt x="0" y="726072"/>
                  </a:cubicBezTo>
                  <a:lnTo>
                    <a:pt x="0" y="7025"/>
                  </a:lnTo>
                  <a:cubicBezTo>
                    <a:pt x="0" y="3145"/>
                    <a:pt x="3145" y="0"/>
                    <a:pt x="7025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063473" cy="780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898428" y="3665380"/>
            <a:ext cx="620711" cy="62071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6F6"/>
            </a:solidFill>
            <a:ln w="47625" cap="sq">
              <a:solidFill>
                <a:srgbClr val="192637"/>
              </a:solidFill>
              <a:prstDash val="lgDash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877520" y="3593428"/>
            <a:ext cx="13322393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Total review: 92,621 reviews.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77520" y="4424718"/>
            <a:ext cx="13322393" cy="137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least number of reviews: 436 reviews.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most number of reviews: 10,837 reviews.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n-US" sz="1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099431" y="1482725"/>
            <a:ext cx="14876187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Construct a local database to store reviews and its embedding into FAISS vector database. Model used: </a:t>
            </a:r>
            <a:r>
              <a:rPr lang="en-US" sz="3500" u="sng" dirty="0">
                <a:solidFill>
                  <a:schemeClr val="bg1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8" tooltip="https://huggingface.co/intfloat/multilingual-e5-large-instruc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intfloat/multilingual-e5-large-instruct</a:t>
            </a:r>
            <a:r>
              <a:rPr lang="en-US" sz="3500" dirty="0">
                <a:solidFill>
                  <a:schemeClr val="bg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(embedding size = 1024)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2099431" y="3526158"/>
            <a:ext cx="13962887" cy="4590299"/>
          </a:xfrm>
          <a:custGeom>
            <a:avLst/>
            <a:gdLst/>
            <a:ahLst/>
            <a:cxnLst/>
            <a:rect l="l" t="t" r="r" b="b"/>
            <a:pathLst>
              <a:path w="13962887" h="4590299">
                <a:moveTo>
                  <a:pt x="0" y="0"/>
                </a:moveTo>
                <a:lnTo>
                  <a:pt x="13962887" y="0"/>
                </a:lnTo>
                <a:lnTo>
                  <a:pt x="13962887" y="4590299"/>
                </a:lnTo>
                <a:lnTo>
                  <a:pt x="0" y="459029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Database Construction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7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BDCB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98428" y="3571341"/>
            <a:ext cx="14491145" cy="157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79"/>
              </a:lnSpc>
            </a:pPr>
            <a:r>
              <a:rPr lang="en-US" sz="9199">
                <a:solidFill>
                  <a:srgbClr val="000000"/>
                </a:solidFill>
                <a:latin typeface="Special Elite"/>
                <a:ea typeface="Special Elite"/>
                <a:cs typeface="Special Elite"/>
                <a:sym typeface="Special Elite"/>
              </a:rPr>
              <a:t>Actor-Related Keywords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41" y="355663"/>
            <a:ext cx="18228117" cy="89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#Functionality-1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45466" y="2299418"/>
            <a:ext cx="4726636" cy="1788760"/>
            <a:chOff x="0" y="0"/>
            <a:chExt cx="1244875" cy="4711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4875" cy="471114"/>
            </a:xfrm>
            <a:custGeom>
              <a:avLst/>
              <a:gdLst/>
              <a:ahLst/>
              <a:cxnLst/>
              <a:rect l="l" t="t" r="r" b="b"/>
              <a:pathLst>
                <a:path w="1244875" h="471114">
                  <a:moveTo>
                    <a:pt x="22931" y="0"/>
                  </a:moveTo>
                  <a:lnTo>
                    <a:pt x="1221944" y="0"/>
                  </a:lnTo>
                  <a:cubicBezTo>
                    <a:pt x="1228026" y="0"/>
                    <a:pt x="1233859" y="2416"/>
                    <a:pt x="1238159" y="6716"/>
                  </a:cubicBezTo>
                  <a:cubicBezTo>
                    <a:pt x="1242459" y="11017"/>
                    <a:pt x="1244875" y="16849"/>
                    <a:pt x="1244875" y="22931"/>
                  </a:cubicBezTo>
                  <a:lnTo>
                    <a:pt x="1244875" y="448183"/>
                  </a:lnTo>
                  <a:cubicBezTo>
                    <a:pt x="1244875" y="460847"/>
                    <a:pt x="1234609" y="471114"/>
                    <a:pt x="1221944" y="471114"/>
                  </a:cubicBezTo>
                  <a:lnTo>
                    <a:pt x="22931" y="471114"/>
                  </a:lnTo>
                  <a:cubicBezTo>
                    <a:pt x="16849" y="471114"/>
                    <a:pt x="11017" y="468698"/>
                    <a:pt x="6716" y="464397"/>
                  </a:cubicBezTo>
                  <a:cubicBezTo>
                    <a:pt x="2416" y="460097"/>
                    <a:pt x="0" y="454264"/>
                    <a:pt x="0" y="448183"/>
                  </a:cubicBezTo>
                  <a:lnTo>
                    <a:pt x="0" y="22931"/>
                  </a:lnTo>
                  <a:cubicBezTo>
                    <a:pt x="0" y="16849"/>
                    <a:pt x="2416" y="11017"/>
                    <a:pt x="6716" y="6716"/>
                  </a:cubicBezTo>
                  <a:cubicBezTo>
                    <a:pt x="11017" y="2416"/>
                    <a:pt x="16849" y="0"/>
                    <a:pt x="22931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44875" cy="518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76642" y="-2886705"/>
            <a:ext cx="11334716" cy="4747255"/>
            <a:chOff x="0" y="0"/>
            <a:chExt cx="2985275" cy="12503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85275" cy="1250306"/>
            </a:xfrm>
            <a:custGeom>
              <a:avLst/>
              <a:gdLst/>
              <a:ahLst/>
              <a:cxnLst/>
              <a:rect l="l" t="t" r="r" b="b"/>
              <a:pathLst>
                <a:path w="2985275" h="1250306">
                  <a:moveTo>
                    <a:pt x="0" y="0"/>
                  </a:moveTo>
                  <a:lnTo>
                    <a:pt x="2985275" y="0"/>
                  </a:lnTo>
                  <a:lnTo>
                    <a:pt x="2985275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985275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W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n-US" sz="1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5" name="Freeform 25"/>
          <p:cNvSpPr/>
          <p:nvPr/>
        </p:nvSpPr>
        <p:spPr>
          <a:xfrm>
            <a:off x="2099431" y="2299418"/>
            <a:ext cx="6767537" cy="6767537"/>
          </a:xfrm>
          <a:custGeom>
            <a:avLst/>
            <a:gdLst/>
            <a:ahLst/>
            <a:cxnLst/>
            <a:rect l="l" t="t" r="r" b="b"/>
            <a:pathLst>
              <a:path w="6767537" h="6767537">
                <a:moveTo>
                  <a:pt x="0" y="0"/>
                </a:moveTo>
                <a:lnTo>
                  <a:pt x="6767538" y="0"/>
                </a:lnTo>
                <a:lnTo>
                  <a:pt x="6767538" y="6767537"/>
                </a:lnTo>
                <a:lnTo>
                  <a:pt x="0" y="676753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Actor-Related Keywords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99431" y="1473200"/>
            <a:ext cx="14366341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Corpus Construction: Review Selection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9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45466" y="4278678"/>
            <a:ext cx="8180422" cy="271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spc="-5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complete_reviews: retrieve whole reviews that consist one of the query’s target words.</a:t>
            </a:r>
          </a:p>
          <a:p>
            <a:pPr algn="l">
              <a:lnSpc>
                <a:spcPts val="2100"/>
              </a:lnSpc>
            </a:pPr>
            <a:endParaRPr lang="en-US" sz="3500" spc="-56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split_reviews: retrieve sentences that consist one of the query’s target words.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45466" y="2351858"/>
            <a:ext cx="4628102" cy="158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Query target words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actor's name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actor's role</a:t>
            </a:r>
          </a:p>
        </p:txBody>
      </p:sp>
    </p:spTree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76642" y="-2886705"/>
            <a:ext cx="11334716" cy="4747255"/>
            <a:chOff x="0" y="0"/>
            <a:chExt cx="2985275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85275" cy="1250306"/>
            </a:xfrm>
            <a:custGeom>
              <a:avLst/>
              <a:gdLst/>
              <a:ahLst/>
              <a:cxnLst/>
              <a:rect l="l" t="t" r="r" b="b"/>
              <a:pathLst>
                <a:path w="2985275" h="1250306">
                  <a:moveTo>
                    <a:pt x="0" y="0"/>
                  </a:moveTo>
                  <a:lnTo>
                    <a:pt x="2985275" y="0"/>
                  </a:lnTo>
                  <a:lnTo>
                    <a:pt x="2985275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985275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n-US" sz="1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2099431" y="2266026"/>
            <a:ext cx="14645533" cy="5986362"/>
          </a:xfrm>
          <a:custGeom>
            <a:avLst/>
            <a:gdLst/>
            <a:ahLst/>
            <a:cxnLst/>
            <a:rect l="l" t="t" r="r" b="b"/>
            <a:pathLst>
              <a:path w="14645533" h="5986362">
                <a:moveTo>
                  <a:pt x="0" y="0"/>
                </a:moveTo>
                <a:lnTo>
                  <a:pt x="14645533" y="0"/>
                </a:lnTo>
                <a:lnTo>
                  <a:pt x="14645533" y="5986362"/>
                </a:lnTo>
                <a:lnTo>
                  <a:pt x="0" y="59863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Actor-Related Keywords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99431" y="1473200"/>
            <a:ext cx="14948632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 Processing: Lemmatize, Stop Words, TF-IDF Vector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10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76642" y="-2886705"/>
            <a:ext cx="11334716" cy="4747255"/>
            <a:chOff x="0" y="0"/>
            <a:chExt cx="2985275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85275" cy="1250306"/>
            </a:xfrm>
            <a:custGeom>
              <a:avLst/>
              <a:gdLst/>
              <a:ahLst/>
              <a:cxnLst/>
              <a:rect l="l" t="t" r="r" b="b"/>
              <a:pathLst>
                <a:path w="2985275" h="1250306">
                  <a:moveTo>
                    <a:pt x="0" y="0"/>
                  </a:moveTo>
                  <a:lnTo>
                    <a:pt x="2985275" y="0"/>
                  </a:lnTo>
                  <a:lnTo>
                    <a:pt x="2985275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985275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n-US" sz="1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2099431" y="2266026"/>
            <a:ext cx="11301259" cy="1977720"/>
          </a:xfrm>
          <a:custGeom>
            <a:avLst/>
            <a:gdLst/>
            <a:ahLst/>
            <a:cxnLst/>
            <a:rect l="l" t="t" r="r" b="b"/>
            <a:pathLst>
              <a:path w="11301259" h="1977720">
                <a:moveTo>
                  <a:pt x="0" y="0"/>
                </a:moveTo>
                <a:lnTo>
                  <a:pt x="11301259" y="0"/>
                </a:lnTo>
                <a:lnTo>
                  <a:pt x="11301259" y="1977720"/>
                </a:lnTo>
                <a:lnTo>
                  <a:pt x="0" y="1977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286275" y="4458036"/>
            <a:ext cx="620711" cy="62071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2099431" y="5165501"/>
            <a:ext cx="11301259" cy="1977720"/>
          </a:xfrm>
          <a:custGeom>
            <a:avLst/>
            <a:gdLst/>
            <a:ahLst/>
            <a:cxnLst/>
            <a:rect l="l" t="t" r="r" b="b"/>
            <a:pathLst>
              <a:path w="11301259" h="1977720">
                <a:moveTo>
                  <a:pt x="0" y="0"/>
                </a:moveTo>
                <a:lnTo>
                  <a:pt x="11301259" y="0"/>
                </a:lnTo>
                <a:lnTo>
                  <a:pt x="11301259" y="1977720"/>
                </a:lnTo>
                <a:lnTo>
                  <a:pt x="0" y="197772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Actor-Related Keywords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99431" y="1473200"/>
            <a:ext cx="14366341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Corpus Processing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99431" y="4372311"/>
            <a:ext cx="14366341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Retrieve Top-k Related Keywords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DF6F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76642" y="-2886705"/>
            <a:ext cx="11334716" cy="4747255"/>
            <a:chOff x="0" y="0"/>
            <a:chExt cx="2985275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85275" cy="1250306"/>
            </a:xfrm>
            <a:custGeom>
              <a:avLst/>
              <a:gdLst/>
              <a:ahLst/>
              <a:cxnLst/>
              <a:rect l="l" t="t" r="r" b="b"/>
              <a:pathLst>
                <a:path w="2985275" h="1250306">
                  <a:moveTo>
                    <a:pt x="0" y="0"/>
                  </a:moveTo>
                  <a:lnTo>
                    <a:pt x="2985275" y="0"/>
                  </a:lnTo>
                  <a:lnTo>
                    <a:pt x="2985275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985275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n-US" sz="1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19063" y="1553322"/>
            <a:ext cx="6825901" cy="1336458"/>
            <a:chOff x="0" y="0"/>
            <a:chExt cx="1797768" cy="35198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97768" cy="351989"/>
            </a:xfrm>
            <a:custGeom>
              <a:avLst/>
              <a:gdLst/>
              <a:ahLst/>
              <a:cxnLst/>
              <a:rect l="l" t="t" r="r" b="b"/>
              <a:pathLst>
                <a:path w="1797768" h="351989">
                  <a:moveTo>
                    <a:pt x="15879" y="0"/>
                  </a:moveTo>
                  <a:lnTo>
                    <a:pt x="1781890" y="0"/>
                  </a:lnTo>
                  <a:cubicBezTo>
                    <a:pt x="1790659" y="0"/>
                    <a:pt x="1797768" y="7109"/>
                    <a:pt x="1797768" y="15879"/>
                  </a:cubicBezTo>
                  <a:lnTo>
                    <a:pt x="1797768" y="336110"/>
                  </a:lnTo>
                  <a:cubicBezTo>
                    <a:pt x="1797768" y="340322"/>
                    <a:pt x="1796095" y="344360"/>
                    <a:pt x="1793117" y="347338"/>
                  </a:cubicBezTo>
                  <a:cubicBezTo>
                    <a:pt x="1790140" y="350316"/>
                    <a:pt x="1786101" y="351989"/>
                    <a:pt x="1781890" y="351989"/>
                  </a:cubicBezTo>
                  <a:lnTo>
                    <a:pt x="15879" y="351989"/>
                  </a:lnTo>
                  <a:cubicBezTo>
                    <a:pt x="7109" y="351989"/>
                    <a:pt x="0" y="344880"/>
                    <a:pt x="0" y="336110"/>
                  </a:cubicBezTo>
                  <a:lnTo>
                    <a:pt x="0" y="15879"/>
                  </a:lnTo>
                  <a:cubicBezTo>
                    <a:pt x="0" y="7109"/>
                    <a:pt x="7109" y="0"/>
                    <a:pt x="15879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797768" cy="399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0052" y="3256683"/>
            <a:ext cx="7500085" cy="3857551"/>
            <a:chOff x="0" y="0"/>
            <a:chExt cx="1975331" cy="101598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75331" cy="1015981"/>
            </a:xfrm>
            <a:custGeom>
              <a:avLst/>
              <a:gdLst/>
              <a:ahLst/>
              <a:cxnLst/>
              <a:rect l="l" t="t" r="r" b="b"/>
              <a:pathLst>
                <a:path w="1975331" h="1015981">
                  <a:moveTo>
                    <a:pt x="14451" y="0"/>
                  </a:moveTo>
                  <a:lnTo>
                    <a:pt x="1960880" y="0"/>
                  </a:lnTo>
                  <a:cubicBezTo>
                    <a:pt x="1964712" y="0"/>
                    <a:pt x="1968388" y="1523"/>
                    <a:pt x="1971098" y="4233"/>
                  </a:cubicBezTo>
                  <a:cubicBezTo>
                    <a:pt x="1973808" y="6943"/>
                    <a:pt x="1975331" y="10619"/>
                    <a:pt x="1975331" y="14451"/>
                  </a:cubicBezTo>
                  <a:lnTo>
                    <a:pt x="1975331" y="1001529"/>
                  </a:lnTo>
                  <a:cubicBezTo>
                    <a:pt x="1975331" y="1005362"/>
                    <a:pt x="1973808" y="1009038"/>
                    <a:pt x="1971098" y="1011748"/>
                  </a:cubicBezTo>
                  <a:cubicBezTo>
                    <a:pt x="1968388" y="1014458"/>
                    <a:pt x="1964712" y="1015981"/>
                    <a:pt x="1960880" y="1015981"/>
                  </a:cubicBezTo>
                  <a:lnTo>
                    <a:pt x="14451" y="1015981"/>
                  </a:lnTo>
                  <a:cubicBezTo>
                    <a:pt x="10619" y="1015981"/>
                    <a:pt x="6943" y="1014458"/>
                    <a:pt x="4233" y="1011748"/>
                  </a:cubicBezTo>
                  <a:cubicBezTo>
                    <a:pt x="1523" y="1009038"/>
                    <a:pt x="0" y="1005362"/>
                    <a:pt x="0" y="1001529"/>
                  </a:cubicBezTo>
                  <a:lnTo>
                    <a:pt x="0" y="14451"/>
                  </a:lnTo>
                  <a:cubicBezTo>
                    <a:pt x="0" y="10619"/>
                    <a:pt x="1523" y="6943"/>
                    <a:pt x="4233" y="4233"/>
                  </a:cubicBezTo>
                  <a:cubicBezTo>
                    <a:pt x="6943" y="1523"/>
                    <a:pt x="10619" y="0"/>
                    <a:pt x="14451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975331" cy="106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6939355" y="3256683"/>
            <a:ext cx="2117162" cy="5792301"/>
          </a:xfrm>
          <a:custGeom>
            <a:avLst/>
            <a:gdLst/>
            <a:ahLst/>
            <a:cxnLst/>
            <a:rect l="l" t="t" r="r" b="b"/>
            <a:pathLst>
              <a:path w="2117162" h="5792301">
                <a:moveTo>
                  <a:pt x="0" y="0"/>
                </a:moveTo>
                <a:lnTo>
                  <a:pt x="2117161" y="0"/>
                </a:lnTo>
                <a:lnTo>
                  <a:pt x="2117161" y="5792301"/>
                </a:lnTo>
                <a:lnTo>
                  <a:pt x="0" y="57923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04" r="-3337" b="-23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229052" y="3983021"/>
            <a:ext cx="5541440" cy="2985451"/>
          </a:xfrm>
          <a:custGeom>
            <a:avLst/>
            <a:gdLst/>
            <a:ahLst/>
            <a:cxnLst/>
            <a:rect l="l" t="t" r="r" b="b"/>
            <a:pathLst>
              <a:path w="5541440" h="2985451">
                <a:moveTo>
                  <a:pt x="0" y="0"/>
                </a:moveTo>
                <a:lnTo>
                  <a:pt x="5541440" y="0"/>
                </a:lnTo>
                <a:lnTo>
                  <a:pt x="5541440" y="2985451"/>
                </a:lnTo>
                <a:lnTo>
                  <a:pt x="0" y="298545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2099431" y="1473200"/>
            <a:ext cx="14366341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 of Top-20 Related Keywords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94213" y="1682766"/>
            <a:ext cx="6407154" cy="1043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Actor: Tom Cruise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Source: 12 Movies with 15,922 Reviews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34475" y="3212511"/>
            <a:ext cx="7500085" cy="3857551"/>
            <a:chOff x="0" y="0"/>
            <a:chExt cx="1975331" cy="101598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75331" cy="1015981"/>
            </a:xfrm>
            <a:custGeom>
              <a:avLst/>
              <a:gdLst/>
              <a:ahLst/>
              <a:cxnLst/>
              <a:rect l="l" t="t" r="r" b="b"/>
              <a:pathLst>
                <a:path w="1975331" h="1015981">
                  <a:moveTo>
                    <a:pt x="14451" y="0"/>
                  </a:moveTo>
                  <a:lnTo>
                    <a:pt x="1960880" y="0"/>
                  </a:lnTo>
                  <a:cubicBezTo>
                    <a:pt x="1964712" y="0"/>
                    <a:pt x="1968388" y="1523"/>
                    <a:pt x="1971098" y="4233"/>
                  </a:cubicBezTo>
                  <a:cubicBezTo>
                    <a:pt x="1973808" y="6943"/>
                    <a:pt x="1975331" y="10619"/>
                    <a:pt x="1975331" y="14451"/>
                  </a:cubicBezTo>
                  <a:lnTo>
                    <a:pt x="1975331" y="1001529"/>
                  </a:lnTo>
                  <a:cubicBezTo>
                    <a:pt x="1975331" y="1005362"/>
                    <a:pt x="1973808" y="1009038"/>
                    <a:pt x="1971098" y="1011748"/>
                  </a:cubicBezTo>
                  <a:cubicBezTo>
                    <a:pt x="1968388" y="1014458"/>
                    <a:pt x="1964712" y="1015981"/>
                    <a:pt x="1960880" y="1015981"/>
                  </a:cubicBezTo>
                  <a:lnTo>
                    <a:pt x="14451" y="1015981"/>
                  </a:lnTo>
                  <a:cubicBezTo>
                    <a:pt x="10619" y="1015981"/>
                    <a:pt x="6943" y="1014458"/>
                    <a:pt x="4233" y="1011748"/>
                  </a:cubicBezTo>
                  <a:cubicBezTo>
                    <a:pt x="1523" y="1009038"/>
                    <a:pt x="0" y="1005362"/>
                    <a:pt x="0" y="1001529"/>
                  </a:cubicBezTo>
                  <a:lnTo>
                    <a:pt x="0" y="14451"/>
                  </a:lnTo>
                  <a:cubicBezTo>
                    <a:pt x="0" y="10619"/>
                    <a:pt x="1523" y="6943"/>
                    <a:pt x="4233" y="4233"/>
                  </a:cubicBezTo>
                  <a:cubicBezTo>
                    <a:pt x="6943" y="1523"/>
                    <a:pt x="10619" y="0"/>
                    <a:pt x="14451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975331" cy="106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4904915" y="3212511"/>
            <a:ext cx="2390476" cy="5794514"/>
          </a:xfrm>
          <a:custGeom>
            <a:avLst/>
            <a:gdLst/>
            <a:ahLst/>
            <a:cxnLst/>
            <a:rect l="l" t="t" r="r" b="b"/>
            <a:pathLst>
              <a:path w="2390476" h="5794514">
                <a:moveTo>
                  <a:pt x="0" y="0"/>
                </a:moveTo>
                <a:lnTo>
                  <a:pt x="2390477" y="0"/>
                </a:lnTo>
                <a:lnTo>
                  <a:pt x="2390477" y="5794515"/>
                </a:lnTo>
                <a:lnTo>
                  <a:pt x="0" y="579451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>
            <a:off x="9363475" y="3983021"/>
            <a:ext cx="5475662" cy="2950013"/>
          </a:xfrm>
          <a:custGeom>
            <a:avLst/>
            <a:gdLst/>
            <a:ahLst/>
            <a:cxnLst/>
            <a:rect l="l" t="t" r="r" b="b"/>
            <a:pathLst>
              <a:path w="5475662" h="2950013">
                <a:moveTo>
                  <a:pt x="0" y="0"/>
                </a:moveTo>
                <a:lnTo>
                  <a:pt x="5475662" y="0"/>
                </a:lnTo>
                <a:lnTo>
                  <a:pt x="5475662" y="2950012"/>
                </a:lnTo>
                <a:lnTo>
                  <a:pt x="0" y="295001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Actor-Related Keywords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9052" y="3417544"/>
            <a:ext cx="4504308" cy="421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complete_reviews: 10,953 Data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63475" y="3373373"/>
            <a:ext cx="4504308" cy="421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split_reviews: 27,731 Data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DF6F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76642" y="-2886705"/>
            <a:ext cx="11334716" cy="4747255"/>
            <a:chOff x="0" y="0"/>
            <a:chExt cx="2985275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85275" cy="1250306"/>
            </a:xfrm>
            <a:custGeom>
              <a:avLst/>
              <a:gdLst/>
              <a:ahLst/>
              <a:cxnLst/>
              <a:rect l="l" t="t" r="r" b="b"/>
              <a:pathLst>
                <a:path w="2985275" h="1250306">
                  <a:moveTo>
                    <a:pt x="0" y="0"/>
                  </a:moveTo>
                  <a:lnTo>
                    <a:pt x="2985275" y="0"/>
                  </a:lnTo>
                  <a:lnTo>
                    <a:pt x="2985275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985275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n-US" sz="1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19063" y="1553322"/>
            <a:ext cx="6825901" cy="1336458"/>
            <a:chOff x="0" y="0"/>
            <a:chExt cx="1797768" cy="35198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97768" cy="351989"/>
            </a:xfrm>
            <a:custGeom>
              <a:avLst/>
              <a:gdLst/>
              <a:ahLst/>
              <a:cxnLst/>
              <a:rect l="l" t="t" r="r" b="b"/>
              <a:pathLst>
                <a:path w="1797768" h="351989">
                  <a:moveTo>
                    <a:pt x="15879" y="0"/>
                  </a:moveTo>
                  <a:lnTo>
                    <a:pt x="1781890" y="0"/>
                  </a:lnTo>
                  <a:cubicBezTo>
                    <a:pt x="1790659" y="0"/>
                    <a:pt x="1797768" y="7109"/>
                    <a:pt x="1797768" y="15879"/>
                  </a:cubicBezTo>
                  <a:lnTo>
                    <a:pt x="1797768" y="336110"/>
                  </a:lnTo>
                  <a:cubicBezTo>
                    <a:pt x="1797768" y="340322"/>
                    <a:pt x="1796095" y="344360"/>
                    <a:pt x="1793117" y="347338"/>
                  </a:cubicBezTo>
                  <a:cubicBezTo>
                    <a:pt x="1790140" y="350316"/>
                    <a:pt x="1786101" y="351989"/>
                    <a:pt x="1781890" y="351989"/>
                  </a:cubicBezTo>
                  <a:lnTo>
                    <a:pt x="15879" y="351989"/>
                  </a:lnTo>
                  <a:cubicBezTo>
                    <a:pt x="7109" y="351989"/>
                    <a:pt x="0" y="344880"/>
                    <a:pt x="0" y="336110"/>
                  </a:cubicBezTo>
                  <a:lnTo>
                    <a:pt x="0" y="15879"/>
                  </a:lnTo>
                  <a:cubicBezTo>
                    <a:pt x="0" y="7109"/>
                    <a:pt x="7109" y="0"/>
                    <a:pt x="15879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797768" cy="399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0052" y="3256683"/>
            <a:ext cx="7500085" cy="3857551"/>
            <a:chOff x="0" y="0"/>
            <a:chExt cx="1975331" cy="101598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75331" cy="1015981"/>
            </a:xfrm>
            <a:custGeom>
              <a:avLst/>
              <a:gdLst/>
              <a:ahLst/>
              <a:cxnLst/>
              <a:rect l="l" t="t" r="r" b="b"/>
              <a:pathLst>
                <a:path w="1975331" h="1015981">
                  <a:moveTo>
                    <a:pt x="14451" y="0"/>
                  </a:moveTo>
                  <a:lnTo>
                    <a:pt x="1960880" y="0"/>
                  </a:lnTo>
                  <a:cubicBezTo>
                    <a:pt x="1964712" y="0"/>
                    <a:pt x="1968388" y="1523"/>
                    <a:pt x="1971098" y="4233"/>
                  </a:cubicBezTo>
                  <a:cubicBezTo>
                    <a:pt x="1973808" y="6943"/>
                    <a:pt x="1975331" y="10619"/>
                    <a:pt x="1975331" y="14451"/>
                  </a:cubicBezTo>
                  <a:lnTo>
                    <a:pt x="1975331" y="1001529"/>
                  </a:lnTo>
                  <a:cubicBezTo>
                    <a:pt x="1975331" y="1005362"/>
                    <a:pt x="1973808" y="1009038"/>
                    <a:pt x="1971098" y="1011748"/>
                  </a:cubicBezTo>
                  <a:cubicBezTo>
                    <a:pt x="1968388" y="1014458"/>
                    <a:pt x="1964712" y="1015981"/>
                    <a:pt x="1960880" y="1015981"/>
                  </a:cubicBezTo>
                  <a:lnTo>
                    <a:pt x="14451" y="1015981"/>
                  </a:lnTo>
                  <a:cubicBezTo>
                    <a:pt x="10619" y="1015981"/>
                    <a:pt x="6943" y="1014458"/>
                    <a:pt x="4233" y="1011748"/>
                  </a:cubicBezTo>
                  <a:cubicBezTo>
                    <a:pt x="1523" y="1009038"/>
                    <a:pt x="0" y="1005362"/>
                    <a:pt x="0" y="1001529"/>
                  </a:cubicBezTo>
                  <a:lnTo>
                    <a:pt x="0" y="14451"/>
                  </a:lnTo>
                  <a:cubicBezTo>
                    <a:pt x="0" y="10619"/>
                    <a:pt x="1523" y="6943"/>
                    <a:pt x="4233" y="4233"/>
                  </a:cubicBezTo>
                  <a:cubicBezTo>
                    <a:pt x="6943" y="1523"/>
                    <a:pt x="10619" y="0"/>
                    <a:pt x="14451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975331" cy="106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229052" y="3983021"/>
            <a:ext cx="5541440" cy="2985451"/>
          </a:xfrm>
          <a:custGeom>
            <a:avLst/>
            <a:gdLst/>
            <a:ahLst/>
            <a:cxnLst/>
            <a:rect l="l" t="t" r="r" b="b"/>
            <a:pathLst>
              <a:path w="5541440" h="2985451">
                <a:moveTo>
                  <a:pt x="0" y="0"/>
                </a:moveTo>
                <a:lnTo>
                  <a:pt x="5541440" y="0"/>
                </a:lnTo>
                <a:lnTo>
                  <a:pt x="5541440" y="2985451"/>
                </a:lnTo>
                <a:lnTo>
                  <a:pt x="0" y="298545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9134475" y="3212511"/>
            <a:ext cx="7500085" cy="3857551"/>
            <a:chOff x="0" y="0"/>
            <a:chExt cx="1975331" cy="101598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75331" cy="1015981"/>
            </a:xfrm>
            <a:custGeom>
              <a:avLst/>
              <a:gdLst/>
              <a:ahLst/>
              <a:cxnLst/>
              <a:rect l="l" t="t" r="r" b="b"/>
              <a:pathLst>
                <a:path w="1975331" h="1015981">
                  <a:moveTo>
                    <a:pt x="14451" y="0"/>
                  </a:moveTo>
                  <a:lnTo>
                    <a:pt x="1960880" y="0"/>
                  </a:lnTo>
                  <a:cubicBezTo>
                    <a:pt x="1964712" y="0"/>
                    <a:pt x="1968388" y="1523"/>
                    <a:pt x="1971098" y="4233"/>
                  </a:cubicBezTo>
                  <a:cubicBezTo>
                    <a:pt x="1973808" y="6943"/>
                    <a:pt x="1975331" y="10619"/>
                    <a:pt x="1975331" y="14451"/>
                  </a:cubicBezTo>
                  <a:lnTo>
                    <a:pt x="1975331" y="1001529"/>
                  </a:lnTo>
                  <a:cubicBezTo>
                    <a:pt x="1975331" y="1005362"/>
                    <a:pt x="1973808" y="1009038"/>
                    <a:pt x="1971098" y="1011748"/>
                  </a:cubicBezTo>
                  <a:cubicBezTo>
                    <a:pt x="1968388" y="1014458"/>
                    <a:pt x="1964712" y="1015981"/>
                    <a:pt x="1960880" y="1015981"/>
                  </a:cubicBezTo>
                  <a:lnTo>
                    <a:pt x="14451" y="1015981"/>
                  </a:lnTo>
                  <a:cubicBezTo>
                    <a:pt x="10619" y="1015981"/>
                    <a:pt x="6943" y="1014458"/>
                    <a:pt x="4233" y="1011748"/>
                  </a:cubicBezTo>
                  <a:cubicBezTo>
                    <a:pt x="1523" y="1009038"/>
                    <a:pt x="0" y="1005362"/>
                    <a:pt x="0" y="1001529"/>
                  </a:cubicBezTo>
                  <a:lnTo>
                    <a:pt x="0" y="14451"/>
                  </a:lnTo>
                  <a:cubicBezTo>
                    <a:pt x="0" y="10619"/>
                    <a:pt x="1523" y="6943"/>
                    <a:pt x="4233" y="4233"/>
                  </a:cubicBezTo>
                  <a:cubicBezTo>
                    <a:pt x="6943" y="1523"/>
                    <a:pt x="10619" y="0"/>
                    <a:pt x="14451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975331" cy="106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4904915" y="3212511"/>
            <a:ext cx="2108969" cy="5155257"/>
          </a:xfrm>
          <a:custGeom>
            <a:avLst/>
            <a:gdLst/>
            <a:ahLst/>
            <a:cxnLst/>
            <a:rect l="l" t="t" r="r" b="b"/>
            <a:pathLst>
              <a:path w="2108969" h="5155257">
                <a:moveTo>
                  <a:pt x="0" y="0"/>
                </a:moveTo>
                <a:lnTo>
                  <a:pt x="2108969" y="0"/>
                </a:lnTo>
                <a:lnTo>
                  <a:pt x="2108969" y="5155257"/>
                </a:lnTo>
                <a:lnTo>
                  <a:pt x="0" y="515525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9363475" y="3983021"/>
            <a:ext cx="5447883" cy="2935047"/>
          </a:xfrm>
          <a:custGeom>
            <a:avLst/>
            <a:gdLst/>
            <a:ahLst/>
            <a:cxnLst/>
            <a:rect l="l" t="t" r="r" b="b"/>
            <a:pathLst>
              <a:path w="5447883" h="2935047">
                <a:moveTo>
                  <a:pt x="0" y="0"/>
                </a:moveTo>
                <a:lnTo>
                  <a:pt x="5447883" y="0"/>
                </a:lnTo>
                <a:lnTo>
                  <a:pt x="5447883" y="2935046"/>
                </a:lnTo>
                <a:lnTo>
                  <a:pt x="0" y="293504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2099431" y="1473200"/>
            <a:ext cx="14366341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 of Top-20 Related Keywords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94213" y="1682766"/>
            <a:ext cx="6407154" cy="1043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Actor: Morgan Freeman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Source: 9 Movies with 21,233 Reviews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Actor-Related Keywords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9052" y="3417544"/>
            <a:ext cx="4504308" cy="421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complete_reviews: 7,653 Data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63475" y="3373373"/>
            <a:ext cx="4504308" cy="421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split_reviews: 11,320 Data</a:t>
            </a:r>
          </a:p>
        </p:txBody>
      </p:sp>
      <p:sp>
        <p:nvSpPr>
          <p:cNvPr id="41" name="Freeform 41"/>
          <p:cNvSpPr/>
          <p:nvPr/>
        </p:nvSpPr>
        <p:spPr>
          <a:xfrm>
            <a:off x="6770492" y="3256683"/>
            <a:ext cx="2137970" cy="5111086"/>
          </a:xfrm>
          <a:custGeom>
            <a:avLst/>
            <a:gdLst/>
            <a:ahLst/>
            <a:cxnLst/>
            <a:rect l="l" t="t" r="r" b="b"/>
            <a:pathLst>
              <a:path w="2137970" h="5111086">
                <a:moveTo>
                  <a:pt x="0" y="0"/>
                </a:moveTo>
                <a:lnTo>
                  <a:pt x="2137971" y="0"/>
                </a:lnTo>
                <a:lnTo>
                  <a:pt x="2137971" y="5111085"/>
                </a:lnTo>
                <a:lnTo>
                  <a:pt x="0" y="511108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BDCB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98428" y="3571341"/>
            <a:ext cx="14491145" cy="157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79"/>
              </a:lnSpc>
            </a:pPr>
            <a:r>
              <a:rPr lang="en-US" sz="9199">
                <a:solidFill>
                  <a:srgbClr val="000000"/>
                </a:solidFill>
                <a:latin typeface="Special Elite"/>
                <a:ea typeface="Special Elite"/>
                <a:cs typeface="Special Elite"/>
                <a:sym typeface="Special Elite"/>
              </a:rPr>
              <a:t>Group by Sentiment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41" y="355663"/>
            <a:ext cx="18228117" cy="89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#Functionality-2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Group by Sentiment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99431" y="1473200"/>
            <a:ext cx="14366341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Retrieve </a:t>
            </a:r>
            <a:r>
              <a:rPr lang="en-US" sz="3999" i="1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tf.keras.datasets.imdb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data (as 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training and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testing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et) and manually create additional testing data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Total: 25,000 data for training and 25,000 data for testing.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99431" y="3719046"/>
            <a:ext cx="14366341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Manually classify additional training  da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 into two categories: “Positive”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(1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 and “Negative” (0). </a:t>
            </a:r>
          </a:p>
          <a:p>
            <a:pPr algn="l">
              <a:lnSpc>
                <a:spcPts val="5599"/>
              </a:lnSpc>
            </a:pP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Total: 300 data with 123 positive data and 177 negative data.</a:t>
            </a:r>
          </a:p>
        </p:txBody>
      </p:sp>
      <p:sp>
        <p:nvSpPr>
          <p:cNvPr id="22" name="Freeform 22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099431" y="6081368"/>
            <a:ext cx="14934528" cy="3712908"/>
          </a:xfrm>
          <a:custGeom>
            <a:avLst/>
            <a:gdLst/>
            <a:ahLst/>
            <a:cxnLst/>
            <a:rect l="l" t="t" r="r" b="b"/>
            <a:pathLst>
              <a:path w="14934528" h="3712908">
                <a:moveTo>
                  <a:pt x="0" y="0"/>
                </a:moveTo>
                <a:lnTo>
                  <a:pt x="14934528" y="0"/>
                </a:lnTo>
                <a:lnTo>
                  <a:pt x="14934528" y="3712909"/>
                </a:lnTo>
                <a:lnTo>
                  <a:pt x="0" y="371290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1633" r="-68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15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86275" y="3804771"/>
            <a:ext cx="620711" cy="62071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099431" y="4800570"/>
            <a:ext cx="14366341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  the following two pages, the data from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Keras is used as :</a:t>
            </a:r>
          </a:p>
          <a:p>
            <a:pPr algn="l">
              <a:lnSpc>
                <a:spcPts val="5599"/>
              </a:lnSpc>
            </a:pP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training,</a:t>
            </a:r>
          </a:p>
          <a:p>
            <a:pPr algn="l">
              <a:lnSpc>
                <a:spcPts val="5599"/>
              </a:lnSpc>
            </a:pP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validation, and </a:t>
            </a:r>
          </a:p>
          <a:p>
            <a:pPr algn="l">
              <a:lnSpc>
                <a:spcPts val="5599"/>
              </a:lnSpc>
            </a:pP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first testing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86275" y="4886295"/>
            <a:ext cx="620711" cy="62071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2099431" y="3028398"/>
            <a:ext cx="14290141" cy="1466231"/>
          </a:xfrm>
          <a:custGeom>
            <a:avLst/>
            <a:gdLst/>
            <a:ahLst/>
            <a:cxnLst/>
            <a:rect l="l" t="t" r="r" b="b"/>
            <a:pathLst>
              <a:path w="14290141" h="1466231">
                <a:moveTo>
                  <a:pt x="0" y="0"/>
                </a:moveTo>
                <a:lnTo>
                  <a:pt x="14290141" y="0"/>
                </a:lnTo>
                <a:lnTo>
                  <a:pt x="14290141" y="1466231"/>
                </a:lnTo>
                <a:lnTo>
                  <a:pt x="0" y="146623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337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Group by Sentiment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99431" y="1473200"/>
            <a:ext cx="14366341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Split training d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ata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tra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ining and validation data to train the neural network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16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2099431" y="2931910"/>
            <a:ext cx="8093241" cy="4512161"/>
          </a:xfrm>
          <a:custGeom>
            <a:avLst/>
            <a:gdLst/>
            <a:ahLst/>
            <a:cxnLst/>
            <a:rect l="l" t="t" r="r" b="b"/>
            <a:pathLst>
              <a:path w="8093241" h="4512161">
                <a:moveTo>
                  <a:pt x="0" y="0"/>
                </a:moveTo>
                <a:lnTo>
                  <a:pt x="8093242" y="0"/>
                </a:lnTo>
                <a:lnTo>
                  <a:pt x="8093242" y="4512161"/>
                </a:lnTo>
                <a:lnTo>
                  <a:pt x="0" y="451216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379261" y="2931910"/>
            <a:ext cx="6183561" cy="5934797"/>
          </a:xfrm>
          <a:custGeom>
            <a:avLst/>
            <a:gdLst/>
            <a:ahLst/>
            <a:cxnLst/>
            <a:rect l="l" t="t" r="r" b="b"/>
            <a:pathLst>
              <a:path w="6183561" h="5934797">
                <a:moveTo>
                  <a:pt x="0" y="0"/>
                </a:moveTo>
                <a:lnTo>
                  <a:pt x="6183561" y="0"/>
                </a:lnTo>
                <a:lnTo>
                  <a:pt x="6183561" y="5934797"/>
                </a:lnTo>
                <a:lnTo>
                  <a:pt x="0" y="593479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Group by Sentiment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99431" y="1473200"/>
            <a:ext cx="14366341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Trained 54 kinds 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neural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networks with different structures and/or hyperparameters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751169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Group by Sentiment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99431" y="1473200"/>
            <a:ext cx="14366341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Performance 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neural</a:t>
            </a:r>
            <a:r>
              <a:rPr lang="en-US" sz="3999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networks with best validation accuracy on both Keras and own test set</a:t>
            </a: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#Functionality-2</a:t>
            </a:r>
          </a:p>
        </p:txBody>
      </p:sp>
      <p:sp>
        <p:nvSpPr>
          <p:cNvPr id="21" name="Freeform 21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18</a:t>
            </a:r>
          </a:p>
        </p:txBody>
      </p:sp>
      <p:sp>
        <p:nvSpPr>
          <p:cNvPr id="26" name="Freeform 26"/>
          <p:cNvSpPr/>
          <p:nvPr/>
        </p:nvSpPr>
        <p:spPr>
          <a:xfrm>
            <a:off x="2099431" y="2956228"/>
            <a:ext cx="7323078" cy="3455328"/>
          </a:xfrm>
          <a:custGeom>
            <a:avLst/>
            <a:gdLst/>
            <a:ahLst/>
            <a:cxnLst/>
            <a:rect l="l" t="t" r="r" b="b"/>
            <a:pathLst>
              <a:path w="7323078" h="3455328">
                <a:moveTo>
                  <a:pt x="0" y="0"/>
                </a:moveTo>
                <a:lnTo>
                  <a:pt x="7323079" y="0"/>
                </a:lnTo>
                <a:lnTo>
                  <a:pt x="7323079" y="3455328"/>
                </a:lnTo>
                <a:lnTo>
                  <a:pt x="0" y="345532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r="-31435" b="-174728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752027" y="2956228"/>
            <a:ext cx="6637545" cy="4695941"/>
          </a:xfrm>
          <a:custGeom>
            <a:avLst/>
            <a:gdLst/>
            <a:ahLst/>
            <a:cxnLst/>
            <a:rect l="l" t="t" r="r" b="b"/>
            <a:pathLst>
              <a:path w="6637545" h="4695941">
                <a:moveTo>
                  <a:pt x="0" y="0"/>
                </a:moveTo>
                <a:lnTo>
                  <a:pt x="6637545" y="0"/>
                </a:lnTo>
                <a:lnTo>
                  <a:pt x="6637545" y="4695941"/>
                </a:lnTo>
                <a:lnTo>
                  <a:pt x="0" y="46959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61362" r="-21942" b="-8629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2099431" y="4038839"/>
            <a:ext cx="7323078" cy="635528"/>
            <a:chOff x="0" y="0"/>
            <a:chExt cx="1928712" cy="1673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28712" cy="167382"/>
            </a:xfrm>
            <a:custGeom>
              <a:avLst/>
              <a:gdLst/>
              <a:ahLst/>
              <a:cxnLst/>
              <a:rect l="l" t="t" r="r" b="b"/>
              <a:pathLst>
                <a:path w="1928712" h="167382">
                  <a:moveTo>
                    <a:pt x="11629" y="0"/>
                  </a:moveTo>
                  <a:lnTo>
                    <a:pt x="1917083" y="0"/>
                  </a:lnTo>
                  <a:cubicBezTo>
                    <a:pt x="1923505" y="0"/>
                    <a:pt x="1928712" y="5207"/>
                    <a:pt x="1928712" y="11629"/>
                  </a:cubicBezTo>
                  <a:lnTo>
                    <a:pt x="1928712" y="155753"/>
                  </a:lnTo>
                  <a:cubicBezTo>
                    <a:pt x="1928712" y="162175"/>
                    <a:pt x="1923505" y="167382"/>
                    <a:pt x="1917083" y="167382"/>
                  </a:cubicBezTo>
                  <a:lnTo>
                    <a:pt x="11629" y="167382"/>
                  </a:lnTo>
                  <a:cubicBezTo>
                    <a:pt x="5207" y="167382"/>
                    <a:pt x="0" y="162175"/>
                    <a:pt x="0" y="155753"/>
                  </a:cubicBezTo>
                  <a:lnTo>
                    <a:pt x="0" y="11629"/>
                  </a:lnTo>
                  <a:cubicBezTo>
                    <a:pt x="0" y="5207"/>
                    <a:pt x="5207" y="0"/>
                    <a:pt x="116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312D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928712" cy="215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BDCB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19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98428" y="3571341"/>
            <a:ext cx="14491145" cy="157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79"/>
              </a:lnSpc>
            </a:pPr>
            <a:r>
              <a:rPr lang="en-US" sz="9199">
                <a:solidFill>
                  <a:srgbClr val="000000"/>
                </a:solidFill>
                <a:latin typeface="Special Elite"/>
                <a:ea typeface="Special Elite"/>
                <a:cs typeface="Special Elite"/>
                <a:sym typeface="Special Elite"/>
              </a:rPr>
              <a:t>Review Summary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41" y="355663"/>
            <a:ext cx="18228117" cy="89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#Functionality-3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2099431" y="2353769"/>
            <a:ext cx="9672806" cy="5579462"/>
          </a:xfrm>
          <a:custGeom>
            <a:avLst/>
            <a:gdLst/>
            <a:ahLst/>
            <a:cxnLst/>
            <a:rect l="l" t="t" r="r" b="b"/>
            <a:pathLst>
              <a:path w="9672806" h="5579462">
                <a:moveTo>
                  <a:pt x="0" y="0"/>
                </a:moveTo>
                <a:lnTo>
                  <a:pt x="9672807" y="0"/>
                </a:lnTo>
                <a:lnTo>
                  <a:pt x="9672807" y="5579462"/>
                </a:lnTo>
                <a:lnTo>
                  <a:pt x="0" y="55794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Review Summary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20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99431" y="1473200"/>
            <a:ext cx="13766544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k-means clustering to split embedding into k-groups.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#Functionality-3</a:t>
            </a:r>
          </a:p>
        </p:txBody>
      </p:sp>
    </p:spTree>
  </p:cSld>
  <p:clrMapOvr>
    <a:masterClrMapping/>
  </p:clrMapOvr>
  <p:transition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099431" y="1473200"/>
            <a:ext cx="14856474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Retrieve reviews that are closest to the centroid of each cluster.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560986" y="2357859"/>
            <a:ext cx="3489285" cy="5088541"/>
          </a:xfrm>
          <a:custGeom>
            <a:avLst/>
            <a:gdLst/>
            <a:ahLst/>
            <a:cxnLst/>
            <a:rect l="l" t="t" r="r" b="b"/>
            <a:pathLst>
              <a:path w="3489285" h="5088541">
                <a:moveTo>
                  <a:pt x="0" y="0"/>
                </a:moveTo>
                <a:lnTo>
                  <a:pt x="3489285" y="0"/>
                </a:lnTo>
                <a:lnTo>
                  <a:pt x="3489285" y="5088541"/>
                </a:lnTo>
                <a:lnTo>
                  <a:pt x="0" y="50885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099431" y="2357859"/>
            <a:ext cx="11301259" cy="4237972"/>
          </a:xfrm>
          <a:custGeom>
            <a:avLst/>
            <a:gdLst/>
            <a:ahLst/>
            <a:cxnLst/>
            <a:rect l="l" t="t" r="r" b="b"/>
            <a:pathLst>
              <a:path w="11301259" h="4237972">
                <a:moveTo>
                  <a:pt x="0" y="0"/>
                </a:moveTo>
                <a:lnTo>
                  <a:pt x="11301259" y="0"/>
                </a:lnTo>
                <a:lnTo>
                  <a:pt x="11301259" y="4237972"/>
                </a:lnTo>
                <a:lnTo>
                  <a:pt x="0" y="4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Review Summary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21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#Functionality-3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2099431" y="5143500"/>
            <a:ext cx="11000137" cy="3324900"/>
          </a:xfrm>
          <a:custGeom>
            <a:avLst/>
            <a:gdLst/>
            <a:ahLst/>
            <a:cxnLst/>
            <a:rect l="l" t="t" r="r" b="b"/>
            <a:pathLst>
              <a:path w="11000137" h="3324900">
                <a:moveTo>
                  <a:pt x="0" y="0"/>
                </a:moveTo>
                <a:lnTo>
                  <a:pt x="11000137" y="0"/>
                </a:lnTo>
                <a:lnTo>
                  <a:pt x="11000137" y="3324900"/>
                </a:lnTo>
                <a:lnTo>
                  <a:pt x="0" y="33249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099568" y="3622675"/>
            <a:ext cx="5422115" cy="6006185"/>
          </a:xfrm>
          <a:custGeom>
            <a:avLst/>
            <a:gdLst/>
            <a:ahLst/>
            <a:cxnLst/>
            <a:rect l="l" t="t" r="r" b="b"/>
            <a:pathLst>
              <a:path w="5422115" h="6006185">
                <a:moveTo>
                  <a:pt x="0" y="0"/>
                </a:moveTo>
                <a:lnTo>
                  <a:pt x="5422115" y="0"/>
                </a:lnTo>
                <a:lnTo>
                  <a:pt x="5422115" y="6006185"/>
                </a:lnTo>
                <a:lnTo>
                  <a:pt x="0" y="600618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Review Summary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22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99431" y="1473200"/>
            <a:ext cx="14020363" cy="421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Summarizes multiple movie reviews into a concise, objective summary in Traditional Chinese.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Gemini API for text generation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 prompt to ensure objectivity and clarity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Highlights sentiment and main discussion points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#Functionality-3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519138" y="4394818"/>
            <a:ext cx="14214867" cy="5289430"/>
          </a:xfrm>
          <a:custGeom>
            <a:avLst/>
            <a:gdLst/>
            <a:ahLst/>
            <a:cxnLst/>
            <a:rect l="l" t="t" r="r" b="b"/>
            <a:pathLst>
              <a:path w="14214867" h="5289430">
                <a:moveTo>
                  <a:pt x="0" y="0"/>
                </a:moveTo>
                <a:lnTo>
                  <a:pt x="14214867" y="0"/>
                </a:lnTo>
                <a:lnTo>
                  <a:pt x="14214867" y="5289430"/>
                </a:lnTo>
                <a:lnTo>
                  <a:pt x="0" y="528943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386" t="-1167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938621" y="7515814"/>
            <a:ext cx="7174071" cy="2168434"/>
          </a:xfrm>
          <a:custGeom>
            <a:avLst/>
            <a:gdLst/>
            <a:ahLst/>
            <a:cxnLst/>
            <a:rect l="l" t="t" r="r" b="b"/>
            <a:pathLst>
              <a:path w="7174071" h="2168434">
                <a:moveTo>
                  <a:pt x="0" y="0"/>
                </a:moveTo>
                <a:lnTo>
                  <a:pt x="7174071" y="0"/>
                </a:lnTo>
                <a:lnTo>
                  <a:pt x="7174071" y="2168434"/>
                </a:lnTo>
                <a:lnTo>
                  <a:pt x="0" y="216843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  <a:ln w="38100" cap="sq">
            <a:solidFill>
              <a:srgbClr val="FDF6F6"/>
            </a:solidFill>
            <a:prstDash val="solid"/>
            <a:miter/>
          </a:ln>
        </p:spPr>
      </p:sp>
      <p:grpSp>
        <p:nvGrpSpPr>
          <p:cNvPr id="18" name="Group 18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Review Summary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22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99431" y="1473200"/>
            <a:ext cx="14020363" cy="279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Summarizes movie reviews in Traditional Chinese.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Gemini API for text generation.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 prompt to ensure objectivity and clarity.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Highlights sentiment and main discussion points.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#Functionality-3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45618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6275" y="1558925"/>
            <a:ext cx="620711" cy="6207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6188"/>
            </a:solidFill>
            <a:ln w="47625" cap="sq">
              <a:solidFill>
                <a:srgbClr val="C5E5E0"/>
              </a:solidFill>
              <a:prstDash val="lgDash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98428" y="365125"/>
            <a:ext cx="14491145" cy="118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DF6F6"/>
                </a:solidFill>
                <a:latin typeface="Special Elite"/>
                <a:ea typeface="Special Elite"/>
                <a:cs typeface="Special Elite"/>
                <a:sym typeface="Special Elite"/>
              </a:rPr>
              <a:t>Review Summary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225888" y="9474762"/>
            <a:ext cx="1062112" cy="6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23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99431" y="1473200"/>
            <a:ext cx="13766544" cy="67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Summarization Result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47782" y="-66675"/>
            <a:ext cx="4992436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#Functionality-3</a:t>
            </a:r>
          </a:p>
        </p:txBody>
      </p:sp>
      <p:sp>
        <p:nvSpPr>
          <p:cNvPr id="26" name="Freeform 26"/>
          <p:cNvSpPr/>
          <p:nvPr/>
        </p:nvSpPr>
        <p:spPr>
          <a:xfrm>
            <a:off x="2111730" y="3847228"/>
            <a:ext cx="14683866" cy="4405160"/>
          </a:xfrm>
          <a:custGeom>
            <a:avLst/>
            <a:gdLst/>
            <a:ahLst/>
            <a:cxnLst/>
            <a:rect l="l" t="t" r="r" b="b"/>
            <a:pathLst>
              <a:path w="14683866" h="4405160">
                <a:moveTo>
                  <a:pt x="0" y="0"/>
                </a:moveTo>
                <a:lnTo>
                  <a:pt x="14683866" y="0"/>
                </a:lnTo>
                <a:lnTo>
                  <a:pt x="14683866" y="4405160"/>
                </a:lnTo>
                <a:lnTo>
                  <a:pt x="0" y="440516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2099431" y="2307089"/>
            <a:ext cx="6825901" cy="1814236"/>
            <a:chOff x="0" y="0"/>
            <a:chExt cx="1797768" cy="47782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97768" cy="477823"/>
            </a:xfrm>
            <a:custGeom>
              <a:avLst/>
              <a:gdLst/>
              <a:ahLst/>
              <a:cxnLst/>
              <a:rect l="l" t="t" r="r" b="b"/>
              <a:pathLst>
                <a:path w="1797768" h="477823">
                  <a:moveTo>
                    <a:pt x="15879" y="0"/>
                  </a:moveTo>
                  <a:lnTo>
                    <a:pt x="1781890" y="0"/>
                  </a:lnTo>
                  <a:cubicBezTo>
                    <a:pt x="1790659" y="0"/>
                    <a:pt x="1797768" y="7109"/>
                    <a:pt x="1797768" y="15879"/>
                  </a:cubicBezTo>
                  <a:lnTo>
                    <a:pt x="1797768" y="461945"/>
                  </a:lnTo>
                  <a:cubicBezTo>
                    <a:pt x="1797768" y="470714"/>
                    <a:pt x="1790659" y="477823"/>
                    <a:pt x="1781890" y="477823"/>
                  </a:cubicBezTo>
                  <a:lnTo>
                    <a:pt x="15879" y="477823"/>
                  </a:lnTo>
                  <a:cubicBezTo>
                    <a:pt x="11667" y="477823"/>
                    <a:pt x="7629" y="476151"/>
                    <a:pt x="4651" y="473173"/>
                  </a:cubicBezTo>
                  <a:cubicBezTo>
                    <a:pt x="1673" y="470195"/>
                    <a:pt x="0" y="466156"/>
                    <a:pt x="0" y="461945"/>
                  </a:cubicBezTo>
                  <a:lnTo>
                    <a:pt x="0" y="15879"/>
                  </a:lnTo>
                  <a:cubicBezTo>
                    <a:pt x="0" y="7109"/>
                    <a:pt x="7109" y="0"/>
                    <a:pt x="15879" y="0"/>
                  </a:cubicBezTo>
                  <a:close/>
                </a:path>
              </a:pathLst>
            </a:custGeom>
            <a:solidFill>
              <a:srgbClr val="FDF6F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797768" cy="525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374581" y="2436533"/>
            <a:ext cx="6407154" cy="157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Movie: Oppenheimer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Source: 4,306 Reviews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Number of Clusters: 5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BDC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BDCB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46164" y="8252388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7275" y="7849231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9821" y="8213665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3030510" flipH="1">
            <a:off x="7379247" y="7097754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02683" y="7652169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2"/>
                </a:lnTo>
                <a:lnTo>
                  <a:pt x="0" y="3212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7225888" y="9474762"/>
            <a:ext cx="106211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24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941" y="355663"/>
            <a:ext cx="18228117" cy="89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Distribution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7275" y="1185609"/>
            <a:ext cx="16202025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李宇捷 01057108 contribution 33 %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 Function #3, Finding Useful Tools, Presentation File, Helping Others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沈奎勳 01057115 contribution 33 %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 Function #2, Web Crawling, Presentation File, Helping Others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陳柏瑋 01057138 contribution 1 %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Living Well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洪旻昌 01057158 contribution 33 %</a:t>
            </a:r>
          </a:p>
          <a:p>
            <a:pPr marL="1295400" lvl="2" indent="-431800" algn="l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u="none" strike="noStrik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 Function #1, Finding Useful Tools, Presentation File, Helping Others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BDC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BDCB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493070" y="2914517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5724" y="4053907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1"/>
                </a:lnTo>
                <a:lnTo>
                  <a:pt x="0" y="3212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986488" y="5952462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7823114" flipH="1">
            <a:off x="14874259" y="2814871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476577" y="6386890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7225888" y="9474762"/>
            <a:ext cx="106211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92637"/>
                </a:solidFill>
                <a:latin typeface="Special Elite"/>
                <a:ea typeface="Special Elite"/>
                <a:cs typeface="Special Elite"/>
                <a:sym typeface="Special Elite"/>
              </a:rPr>
              <a:t>24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941" y="355663"/>
            <a:ext cx="18228117" cy="89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Contribution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9048" y="236470"/>
            <a:ext cx="16685411" cy="10161006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287646" y="7170860"/>
            <a:ext cx="8337139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Function #1, Data Processing, Presentation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87646" y="4072201"/>
            <a:ext cx="8337139" cy="517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Function #2, Web Crawling, Presentation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87646" y="2471045"/>
            <a:ext cx="8337139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Function #3, Data Processing, Presentation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87646" y="5597157"/>
            <a:ext cx="8337139" cy="5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 Idea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7526" y="815921"/>
            <a:ext cx="16612948" cy="8655158"/>
            <a:chOff x="0" y="0"/>
            <a:chExt cx="4375427" cy="2279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5427" cy="2279548"/>
            </a:xfrm>
            <a:custGeom>
              <a:avLst/>
              <a:gdLst/>
              <a:ahLst/>
              <a:cxnLst/>
              <a:rect l="l" t="t" r="r" b="b"/>
              <a:pathLst>
                <a:path w="4375427" h="2279548">
                  <a:moveTo>
                    <a:pt x="0" y="0"/>
                  </a:moveTo>
                  <a:lnTo>
                    <a:pt x="4375427" y="0"/>
                  </a:lnTo>
                  <a:lnTo>
                    <a:pt x="4375427" y="2279548"/>
                  </a:lnTo>
                  <a:lnTo>
                    <a:pt x="0" y="227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5427" cy="2327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6614" y="-2953920"/>
            <a:ext cx="10614772" cy="4747255"/>
            <a:chOff x="0" y="0"/>
            <a:chExt cx="2795660" cy="12503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5660" cy="1250306"/>
            </a:xfrm>
            <a:custGeom>
              <a:avLst/>
              <a:gdLst/>
              <a:ahLst/>
              <a:cxnLst/>
              <a:rect l="l" t="t" r="r" b="b"/>
              <a:pathLst>
                <a:path w="2795660" h="1250306">
                  <a:moveTo>
                    <a:pt x="0" y="0"/>
                  </a:moveTo>
                  <a:lnTo>
                    <a:pt x="2795660" y="0"/>
                  </a:lnTo>
                  <a:lnTo>
                    <a:pt x="2795660" y="1250306"/>
                  </a:lnTo>
                  <a:lnTo>
                    <a:pt x="0" y="1250306"/>
                  </a:lnTo>
                  <a:close/>
                </a:path>
              </a:pathLst>
            </a:custGeom>
            <a:solidFill>
              <a:srgbClr val="BDCB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5660" cy="129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4872719" y="8252388"/>
            <a:ext cx="3744491" cy="2437497"/>
          </a:xfrm>
          <a:custGeom>
            <a:avLst/>
            <a:gdLst/>
            <a:ahLst/>
            <a:cxnLst/>
            <a:rect l="l" t="t" r="r" b="b"/>
            <a:pathLst>
              <a:path w="3744491" h="2437497">
                <a:moveTo>
                  <a:pt x="0" y="0"/>
                </a:moveTo>
                <a:lnTo>
                  <a:pt x="3744491" y="0"/>
                </a:lnTo>
                <a:lnTo>
                  <a:pt x="3744491" y="2437496"/>
                </a:lnTo>
                <a:lnTo>
                  <a:pt x="0" y="24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493070" y="2914517"/>
            <a:ext cx="3485940" cy="2581413"/>
          </a:xfrm>
          <a:custGeom>
            <a:avLst/>
            <a:gdLst/>
            <a:ahLst/>
            <a:cxnLst/>
            <a:rect l="l" t="t" r="r" b="b"/>
            <a:pathLst>
              <a:path w="3485940" h="2581413">
                <a:moveTo>
                  <a:pt x="0" y="0"/>
                </a:moveTo>
                <a:lnTo>
                  <a:pt x="3485940" y="0"/>
                </a:lnTo>
                <a:lnTo>
                  <a:pt x="3485940" y="2581413"/>
                </a:lnTo>
                <a:lnTo>
                  <a:pt x="0" y="2581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5724" y="4053907"/>
            <a:ext cx="2935938" cy="3212262"/>
          </a:xfrm>
          <a:custGeom>
            <a:avLst/>
            <a:gdLst/>
            <a:ahLst/>
            <a:cxnLst/>
            <a:rect l="l" t="t" r="r" b="b"/>
            <a:pathLst>
              <a:path w="2935938" h="3212262">
                <a:moveTo>
                  <a:pt x="0" y="0"/>
                </a:moveTo>
                <a:lnTo>
                  <a:pt x="2935938" y="0"/>
                </a:lnTo>
                <a:lnTo>
                  <a:pt x="2935938" y="3212261"/>
                </a:lnTo>
                <a:lnTo>
                  <a:pt x="0" y="3212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986488" y="5952462"/>
            <a:ext cx="4146702" cy="3114190"/>
          </a:xfrm>
          <a:custGeom>
            <a:avLst/>
            <a:gdLst/>
            <a:ahLst/>
            <a:cxnLst/>
            <a:rect l="l" t="t" r="r" b="b"/>
            <a:pathLst>
              <a:path w="4146702" h="3114190">
                <a:moveTo>
                  <a:pt x="0" y="0"/>
                </a:moveTo>
                <a:lnTo>
                  <a:pt x="4146702" y="0"/>
                </a:lnTo>
                <a:lnTo>
                  <a:pt x="4146702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7823114" flipH="1">
            <a:off x="14874259" y="2814871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4909198" y="0"/>
                </a:moveTo>
                <a:lnTo>
                  <a:pt x="0" y="0"/>
                </a:lnTo>
                <a:lnTo>
                  <a:pt x="0" y="4114800"/>
                </a:lnTo>
                <a:lnTo>
                  <a:pt x="4909198" y="4114800"/>
                </a:lnTo>
                <a:lnTo>
                  <a:pt x="49091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476577" y="6386890"/>
            <a:ext cx="3704561" cy="2620135"/>
          </a:xfrm>
          <a:custGeom>
            <a:avLst/>
            <a:gdLst/>
            <a:ahLst/>
            <a:cxnLst/>
            <a:rect l="l" t="t" r="r" b="b"/>
            <a:pathLst>
              <a:path w="3704561" h="2620135">
                <a:moveTo>
                  <a:pt x="0" y="0"/>
                </a:moveTo>
                <a:lnTo>
                  <a:pt x="3704562" y="0"/>
                </a:lnTo>
                <a:lnTo>
                  <a:pt x="3704562" y="2620136"/>
                </a:lnTo>
                <a:lnTo>
                  <a:pt x="0" y="26201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-618697" y="9007026"/>
            <a:ext cx="2359302" cy="1682859"/>
          </a:xfrm>
          <a:custGeom>
            <a:avLst/>
            <a:gdLst/>
            <a:ahLst/>
            <a:cxnLst/>
            <a:rect l="l" t="t" r="r" b="b"/>
            <a:pathLst>
              <a:path w="2359302" h="1682859">
                <a:moveTo>
                  <a:pt x="0" y="0"/>
                </a:moveTo>
                <a:lnTo>
                  <a:pt x="2359302" y="0"/>
                </a:lnTo>
                <a:lnTo>
                  <a:pt x="2359302" y="1682858"/>
                </a:lnTo>
                <a:lnTo>
                  <a:pt x="0" y="16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hlinkClick r:id="rId16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65772" y="9243627"/>
            <a:ext cx="3086100" cy="308610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7225888" y="9474762"/>
            <a:ext cx="106211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0" i="0" u="none" strike="noStrike" kern="1200" cap="none" spc="0" normalizeH="0" baseline="0" noProof="0">
                <a:ln>
                  <a:noFill/>
                </a:ln>
                <a:solidFill>
                  <a:srgbClr val="192637"/>
                </a:solidFill>
                <a:effectLst/>
                <a:uLnTx/>
                <a:uFillTx/>
                <a:latin typeface="Special Elite"/>
                <a:ea typeface="Special Elite"/>
                <a:cs typeface="Special Elite"/>
                <a:sym typeface="Special Elite"/>
              </a:rPr>
              <a:t>24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941" y="355663"/>
            <a:ext cx="18228117" cy="89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lacial Indifference"/>
                <a:ea typeface="Glacial Indifference"/>
                <a:cs typeface="Glacial Indifference"/>
                <a:sym typeface="Glacial Indifference"/>
              </a:rPr>
              <a:t>Work Contribution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0772" y="278194"/>
            <a:ext cx="16184722" cy="10077558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230496" y="7180385"/>
            <a:ext cx="8337139" cy="45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7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lacial Indifference"/>
                <a:ea typeface="Glacial Indifference"/>
                <a:cs typeface="Glacial Indifference"/>
                <a:sym typeface="Glacial Indifference"/>
              </a:rPr>
              <a:t>Function #1, Data Processing, Presentation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30496" y="4081726"/>
            <a:ext cx="9163740" cy="45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7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lacial Indifference"/>
                <a:ea typeface="Glacial Indifference"/>
                <a:cs typeface="Glacial Indifference"/>
                <a:sym typeface="Glacial Indifference"/>
              </a:rPr>
              <a:t>Function #2, Web Crawling, Data Processing, Presentation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30496" y="2527134"/>
            <a:ext cx="8337139" cy="45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7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lacial Indifference"/>
                <a:ea typeface="Glacial Indifference"/>
                <a:cs typeface="Glacial Indifference"/>
                <a:sym typeface="Glacial Indifference"/>
              </a:rPr>
              <a:t>Function #3, Data Processing, Presentation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30496" y="5606682"/>
            <a:ext cx="8337139" cy="45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7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lacial Indifference"/>
                <a:ea typeface="Glacial Indifference"/>
                <a:cs typeface="Glacial Indifference"/>
                <a:sym typeface="Glacial Indifference"/>
              </a:rPr>
              <a:t>Provide Idea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05" y="-43043"/>
            <a:ext cx="18989176" cy="1395919"/>
            <a:chOff x="0" y="0"/>
            <a:chExt cx="5001265" cy="367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1264" cy="367650"/>
            </a:xfrm>
            <a:custGeom>
              <a:avLst/>
              <a:gdLst/>
              <a:ahLst/>
              <a:cxnLst/>
              <a:rect l="l" t="t" r="r" b="b"/>
              <a:pathLst>
                <a:path w="5001264" h="367650">
                  <a:moveTo>
                    <a:pt x="0" y="0"/>
                  </a:moveTo>
                  <a:lnTo>
                    <a:pt x="5001264" y="0"/>
                  </a:lnTo>
                  <a:lnTo>
                    <a:pt x="5001264" y="367650"/>
                  </a:lnTo>
                  <a:lnTo>
                    <a:pt x="0" y="367650"/>
                  </a:lnTo>
                  <a:close/>
                </a:path>
              </a:pathLst>
            </a:custGeom>
            <a:solidFill>
              <a:srgbClr val="2E3B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01265" cy="41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92871" y="2512903"/>
            <a:ext cx="18873741" cy="1851570"/>
          </a:xfrm>
          <a:custGeom>
            <a:avLst/>
            <a:gdLst/>
            <a:ahLst/>
            <a:cxnLst/>
            <a:rect l="l" t="t" r="r" b="b"/>
            <a:pathLst>
              <a:path w="18873741" h="1851570">
                <a:moveTo>
                  <a:pt x="0" y="0"/>
                </a:moveTo>
                <a:lnTo>
                  <a:pt x="18873742" y="0"/>
                </a:lnTo>
                <a:lnTo>
                  <a:pt x="18873742" y="1851570"/>
                </a:lnTo>
                <a:lnTo>
                  <a:pt x="0" y="185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1333826"/>
            <a:ext cx="18989176" cy="1395919"/>
            <a:chOff x="0" y="0"/>
            <a:chExt cx="5001265" cy="367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01264" cy="367650"/>
            </a:xfrm>
            <a:custGeom>
              <a:avLst/>
              <a:gdLst/>
              <a:ahLst/>
              <a:cxnLst/>
              <a:rect l="l" t="t" r="r" b="b"/>
              <a:pathLst>
                <a:path w="5001264" h="367650">
                  <a:moveTo>
                    <a:pt x="0" y="0"/>
                  </a:moveTo>
                  <a:lnTo>
                    <a:pt x="5001264" y="0"/>
                  </a:lnTo>
                  <a:lnTo>
                    <a:pt x="5001264" y="367650"/>
                  </a:lnTo>
                  <a:lnTo>
                    <a:pt x="0" y="367650"/>
                  </a:lnTo>
                  <a:close/>
                </a:path>
              </a:pathLst>
            </a:custGeom>
            <a:solidFill>
              <a:srgbClr val="2E3B4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001265" cy="41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1945" y="-52473"/>
            <a:ext cx="5114499" cy="1405349"/>
            <a:chOff x="0" y="0"/>
            <a:chExt cx="608735" cy="1672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8735" cy="167267"/>
            </a:xfrm>
            <a:custGeom>
              <a:avLst/>
              <a:gdLst/>
              <a:ahLst/>
              <a:cxnLst/>
              <a:rect l="l" t="t" r="r" b="b"/>
              <a:pathLst>
                <a:path w="608735" h="167267">
                  <a:moveTo>
                    <a:pt x="405535" y="0"/>
                  </a:moveTo>
                  <a:lnTo>
                    <a:pt x="0" y="0"/>
                  </a:lnTo>
                  <a:lnTo>
                    <a:pt x="203200" y="167267"/>
                  </a:lnTo>
                  <a:lnTo>
                    <a:pt x="608735" y="167267"/>
                  </a:lnTo>
                  <a:lnTo>
                    <a:pt x="405535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-47625"/>
              <a:ext cx="405535" cy="21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06137" y="-52473"/>
            <a:ext cx="5114499" cy="1405349"/>
            <a:chOff x="0" y="0"/>
            <a:chExt cx="608735" cy="1672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8735" cy="167267"/>
            </a:xfrm>
            <a:custGeom>
              <a:avLst/>
              <a:gdLst/>
              <a:ahLst/>
              <a:cxnLst/>
              <a:rect l="l" t="t" r="r" b="b"/>
              <a:pathLst>
                <a:path w="608735" h="167267">
                  <a:moveTo>
                    <a:pt x="405535" y="0"/>
                  </a:moveTo>
                  <a:lnTo>
                    <a:pt x="0" y="0"/>
                  </a:lnTo>
                  <a:lnTo>
                    <a:pt x="203200" y="167267"/>
                  </a:lnTo>
                  <a:lnTo>
                    <a:pt x="608735" y="167267"/>
                  </a:lnTo>
                  <a:lnTo>
                    <a:pt x="405535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600" y="-47625"/>
              <a:ext cx="405535" cy="21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34219" y="-52473"/>
            <a:ext cx="5114499" cy="1405349"/>
            <a:chOff x="0" y="0"/>
            <a:chExt cx="608735" cy="1672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8735" cy="167267"/>
            </a:xfrm>
            <a:custGeom>
              <a:avLst/>
              <a:gdLst/>
              <a:ahLst/>
              <a:cxnLst/>
              <a:rect l="l" t="t" r="r" b="b"/>
              <a:pathLst>
                <a:path w="608735" h="167267">
                  <a:moveTo>
                    <a:pt x="405535" y="0"/>
                  </a:moveTo>
                  <a:lnTo>
                    <a:pt x="0" y="0"/>
                  </a:lnTo>
                  <a:lnTo>
                    <a:pt x="203200" y="167267"/>
                  </a:lnTo>
                  <a:lnTo>
                    <a:pt x="608735" y="167267"/>
                  </a:lnTo>
                  <a:lnTo>
                    <a:pt x="405535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600" y="-47625"/>
              <a:ext cx="405535" cy="21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462301" y="-52473"/>
            <a:ext cx="5114499" cy="1405349"/>
            <a:chOff x="0" y="0"/>
            <a:chExt cx="608735" cy="1672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8735" cy="167267"/>
            </a:xfrm>
            <a:custGeom>
              <a:avLst/>
              <a:gdLst/>
              <a:ahLst/>
              <a:cxnLst/>
              <a:rect l="l" t="t" r="r" b="b"/>
              <a:pathLst>
                <a:path w="608735" h="167267">
                  <a:moveTo>
                    <a:pt x="405535" y="0"/>
                  </a:moveTo>
                  <a:lnTo>
                    <a:pt x="0" y="0"/>
                  </a:lnTo>
                  <a:lnTo>
                    <a:pt x="203200" y="167267"/>
                  </a:lnTo>
                  <a:lnTo>
                    <a:pt x="608735" y="167267"/>
                  </a:lnTo>
                  <a:lnTo>
                    <a:pt x="405535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600" y="-47625"/>
              <a:ext cx="405535" cy="21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73447" y="1333826"/>
            <a:ext cx="4725613" cy="1395919"/>
            <a:chOff x="0" y="0"/>
            <a:chExt cx="750998" cy="2218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50998" cy="221841"/>
            </a:xfrm>
            <a:custGeom>
              <a:avLst/>
              <a:gdLst/>
              <a:ahLst/>
              <a:cxnLst/>
              <a:rect l="l" t="t" r="r" b="b"/>
              <a:pathLst>
                <a:path w="750998" h="221841">
                  <a:moveTo>
                    <a:pt x="203200" y="0"/>
                  </a:moveTo>
                  <a:lnTo>
                    <a:pt x="750998" y="0"/>
                  </a:lnTo>
                  <a:lnTo>
                    <a:pt x="547798" y="221841"/>
                  </a:lnTo>
                  <a:lnTo>
                    <a:pt x="0" y="2218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600" y="-47625"/>
              <a:ext cx="547798" cy="26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01528" y="1333826"/>
            <a:ext cx="4725613" cy="1395919"/>
            <a:chOff x="0" y="0"/>
            <a:chExt cx="750998" cy="22184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50998" cy="221841"/>
            </a:xfrm>
            <a:custGeom>
              <a:avLst/>
              <a:gdLst/>
              <a:ahLst/>
              <a:cxnLst/>
              <a:rect l="l" t="t" r="r" b="b"/>
              <a:pathLst>
                <a:path w="750998" h="221841">
                  <a:moveTo>
                    <a:pt x="203200" y="0"/>
                  </a:moveTo>
                  <a:lnTo>
                    <a:pt x="750998" y="0"/>
                  </a:lnTo>
                  <a:lnTo>
                    <a:pt x="547798" y="221841"/>
                  </a:lnTo>
                  <a:lnTo>
                    <a:pt x="0" y="2218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600" y="-47625"/>
              <a:ext cx="547798" cy="26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29610" y="1333826"/>
            <a:ext cx="4725613" cy="1395919"/>
            <a:chOff x="0" y="0"/>
            <a:chExt cx="750998" cy="2218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50998" cy="221841"/>
            </a:xfrm>
            <a:custGeom>
              <a:avLst/>
              <a:gdLst/>
              <a:ahLst/>
              <a:cxnLst/>
              <a:rect l="l" t="t" r="r" b="b"/>
              <a:pathLst>
                <a:path w="750998" h="221841">
                  <a:moveTo>
                    <a:pt x="203200" y="0"/>
                  </a:moveTo>
                  <a:lnTo>
                    <a:pt x="750998" y="0"/>
                  </a:lnTo>
                  <a:lnTo>
                    <a:pt x="547798" y="221841"/>
                  </a:lnTo>
                  <a:lnTo>
                    <a:pt x="0" y="2218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600" y="-47625"/>
              <a:ext cx="547798" cy="26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860123" y="1333826"/>
            <a:ext cx="4725613" cy="1395919"/>
            <a:chOff x="0" y="0"/>
            <a:chExt cx="750998" cy="2218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50998" cy="221841"/>
            </a:xfrm>
            <a:custGeom>
              <a:avLst/>
              <a:gdLst/>
              <a:ahLst/>
              <a:cxnLst/>
              <a:rect l="l" t="t" r="r" b="b"/>
              <a:pathLst>
                <a:path w="750998" h="221841">
                  <a:moveTo>
                    <a:pt x="203200" y="0"/>
                  </a:moveTo>
                  <a:lnTo>
                    <a:pt x="750998" y="0"/>
                  </a:lnTo>
                  <a:lnTo>
                    <a:pt x="547798" y="221841"/>
                  </a:lnTo>
                  <a:lnTo>
                    <a:pt x="0" y="22184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600" y="-47625"/>
              <a:ext cx="547798" cy="26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2251226" y="5429250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8721574" y="5429250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2251226" y="7311598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721574" y="7311598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flipV="1">
            <a:off x="-292871" y="8435430"/>
            <a:ext cx="18873741" cy="1851570"/>
          </a:xfrm>
          <a:custGeom>
            <a:avLst/>
            <a:gdLst/>
            <a:ahLst/>
            <a:cxnLst/>
            <a:rect l="l" t="t" r="r" b="b"/>
            <a:pathLst>
              <a:path w="18873741" h="1851570">
                <a:moveTo>
                  <a:pt x="0" y="1851570"/>
                </a:moveTo>
                <a:lnTo>
                  <a:pt x="18873742" y="1851570"/>
                </a:lnTo>
                <a:lnTo>
                  <a:pt x="18873742" y="0"/>
                </a:lnTo>
                <a:lnTo>
                  <a:pt x="0" y="0"/>
                </a:lnTo>
                <a:lnTo>
                  <a:pt x="0" y="18515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rot="4490682">
            <a:off x="15266751" y="6938664"/>
            <a:ext cx="1316736" cy="4114800"/>
          </a:xfrm>
          <a:custGeom>
            <a:avLst/>
            <a:gdLst/>
            <a:ahLst/>
            <a:cxnLst/>
            <a:rect l="l" t="t" r="r" b="b"/>
            <a:pathLst>
              <a:path w="1316736" h="4114800">
                <a:moveTo>
                  <a:pt x="0" y="0"/>
                </a:moveTo>
                <a:lnTo>
                  <a:pt x="1316736" y="0"/>
                </a:lnTo>
                <a:lnTo>
                  <a:pt x="13167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535305" y="3822109"/>
            <a:ext cx="14491145" cy="214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Thank you</a:t>
            </a:r>
          </a:p>
        </p:txBody>
      </p:sp>
      <p:sp>
        <p:nvSpPr>
          <p:cNvPr id="40" name="TextBox 40"/>
          <p:cNvSpPr txBox="1"/>
          <p:nvPr/>
        </p:nvSpPr>
        <p:spPr>
          <a:xfrm rot="-912620">
            <a:off x="11995962" y="8464872"/>
            <a:ext cx="7825238" cy="103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929">
                <a:solidFill>
                  <a:srgbClr val="FF312D"/>
                </a:solidFill>
                <a:latin typeface="Special Elite"/>
                <a:ea typeface="Special Elite"/>
                <a:cs typeface="Special Elite"/>
                <a:sym typeface="Special Elite"/>
              </a:rPr>
              <a:t>END</a:t>
            </a:r>
          </a:p>
        </p:txBody>
      </p:sp>
      <p:sp>
        <p:nvSpPr>
          <p:cNvPr id="41" name="Freeform 41">
            <a:hlinkClick r:id="rId8" tooltip="https://www.imdb.com"/>
          </p:cNvPr>
          <p:cNvSpPr/>
          <p:nvPr/>
        </p:nvSpPr>
        <p:spPr>
          <a:xfrm>
            <a:off x="560954" y="9214284"/>
            <a:ext cx="1958185" cy="939929"/>
          </a:xfrm>
          <a:custGeom>
            <a:avLst/>
            <a:gdLst/>
            <a:ahLst/>
            <a:cxnLst/>
            <a:rect l="l" t="t" r="r" b="b"/>
            <a:pathLst>
              <a:path w="1958185" h="939929">
                <a:moveTo>
                  <a:pt x="0" y="0"/>
                </a:moveTo>
                <a:lnTo>
                  <a:pt x="1958184" y="0"/>
                </a:lnTo>
                <a:lnTo>
                  <a:pt x="1958184" y="939928"/>
                </a:lnTo>
                <a:lnTo>
                  <a:pt x="0" y="9399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2535305" y="6773009"/>
            <a:ext cx="15346833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u="sng" dirty="0">
                <a:solidFill>
                  <a:schemeClr val="bg1"/>
                </a:solidFill>
                <a:latin typeface="Special Elite"/>
                <a:ea typeface="Special Elite"/>
                <a:cs typeface="Special Elite"/>
                <a:sym typeface="Special Elite"/>
                <a:hlinkClick r:id="rId10" tooltip="https://github.com/shenks0628/Information-Retrieval-IMDb-projec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https://github.com/shenks0628/Information-Retrieval-IMDb-project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{46AB9D12-85F1-3E49-BB63-5A4EF8983DDE}tf16401378</Template>
  <TotalTime>8</TotalTime>
  <Words>813</Words>
  <Application>Microsoft Macintosh PowerPoint</Application>
  <PresentationFormat>Custom</PresentationFormat>
  <Paragraphs>173</Paragraphs>
  <Slides>28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Arimo</vt:lpstr>
      <vt:lpstr>Calibri</vt:lpstr>
      <vt:lpstr>Glacial Indifference</vt:lpstr>
      <vt:lpstr>Glacial Indifference Italics</vt:lpstr>
      <vt:lpstr>Special Elite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</dc:title>
  <cp:lastModifiedBy>洪旻昌</cp:lastModifiedBy>
  <cp:revision>3</cp:revision>
  <dcterms:created xsi:type="dcterms:W3CDTF">2006-08-16T00:00:00Z</dcterms:created>
  <dcterms:modified xsi:type="dcterms:W3CDTF">2025-06-04T16:47:05Z</dcterms:modified>
  <dc:identifier>DAGit-SejTU</dc:identifier>
</cp:coreProperties>
</file>